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Nn29iplvDThMD85bjxFryvmL2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-357" y="83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46489a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g3f46489a4e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g3f46489a4e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46489a4e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g3f46489a4e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3f46489a4e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46489a4e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f46489a4ea_1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f46489a4ea_1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MECE (</a:t>
            </a:r>
            <a:r>
              <a:rPr lang="en-US" dirty="0" err="1"/>
              <a:t>Mutially</a:t>
            </a:r>
            <a:r>
              <a:rPr lang="en-US" dirty="0"/>
              <a:t> exclusive </a:t>
            </a:r>
            <a:r>
              <a:rPr lang="en-US" dirty="0" err="1"/>
              <a:t>collectivelyt</a:t>
            </a:r>
            <a:r>
              <a:rPr lang="en-US" dirty="0"/>
              <a:t> exhaustive)</a:t>
            </a:r>
            <a:endParaRPr dirty="0"/>
          </a:p>
        </p:txBody>
      </p:sp>
      <p:sp>
        <p:nvSpPr>
          <p:cNvPr id="218" name="Google Shape;21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4dd4078f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3f4dd4078f7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f4dd4078f7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6" name="Google Shape;28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3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869680" y="-2194560"/>
            <a:ext cx="5669280" cy="5669280"/>
          </a:xfrm>
          <a:prstGeom prst="ellipse">
            <a:avLst/>
          </a:prstGeom>
          <a:solidFill>
            <a:srgbClr val="0F766E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241280" y="3383280"/>
            <a:ext cx="4206240" cy="4206240"/>
          </a:xfrm>
          <a:prstGeom prst="ellipse">
            <a:avLst/>
          </a:prstGeom>
          <a:solidFill>
            <a:srgbClr val="14857F">
              <a:alpha val="3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86384" y="1304105"/>
            <a:ext cx="96012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Automated Customer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Reviews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86375" y="3844395"/>
            <a:ext cx="96012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BEFEA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700" b="0" i="0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n end-to-end NLP pipeline that turns thousands of raw product reviews into</a:t>
            </a:r>
            <a:r>
              <a:rPr lang="en-US" sz="1700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 product recommendations</a:t>
            </a:r>
            <a:r>
              <a:rPr lang="en-US" sz="1700" b="0" i="0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841248" y="3326228"/>
            <a:ext cx="1920300" cy="0"/>
          </a:xfrm>
          <a:prstGeom prst="straightConnector1">
            <a:avLst/>
          </a:prstGeom>
          <a:noFill/>
          <a:ln w="317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1"/>
          <p:cNvSpPr/>
          <p:nvPr/>
        </p:nvSpPr>
        <p:spPr>
          <a:xfrm>
            <a:off x="822960" y="35091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F5F2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Review Classification</a:t>
            </a:r>
            <a:r>
              <a:rPr lang="en-US" sz="14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  •   </a:t>
            </a:r>
            <a:r>
              <a:rPr lang="en-US" sz="1450" b="1" i="0" u="none" strike="noStrike" cap="none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Product Clustering</a:t>
            </a:r>
            <a:r>
              <a:rPr lang="en-US" sz="14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  •   </a:t>
            </a:r>
            <a:r>
              <a:rPr lang="en-US" sz="1450" b="1" i="0" u="none" strike="noStrike" cap="none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Generative Summarisation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86375" y="4281082"/>
            <a:ext cx="73152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C4B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8FC4BE"/>
                </a:solidFill>
                <a:latin typeface="Calibri"/>
                <a:ea typeface="Calibri"/>
                <a:cs typeface="Calibri"/>
                <a:sym typeface="Calibri"/>
              </a:rPr>
              <a:t>Andre </a:t>
            </a:r>
            <a:r>
              <a:rPr lang="en-US" sz="1700">
                <a:solidFill>
                  <a:srgbClr val="8FC4BE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en-US" sz="1250">
                <a:solidFill>
                  <a:srgbClr val="8FC4BE"/>
                </a:solidFill>
                <a:latin typeface="Calibri"/>
                <a:ea typeface="Calibri"/>
                <a:cs typeface="Calibri"/>
                <a:sym typeface="Calibri"/>
              </a:rPr>
              <a:t> Soledad </a:t>
            </a:r>
            <a:r>
              <a:rPr lang="en-US" sz="1700">
                <a:solidFill>
                  <a:srgbClr val="8FC4BE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en-US" sz="1250">
                <a:solidFill>
                  <a:srgbClr val="8FC4BE"/>
                </a:solidFill>
                <a:latin typeface="Calibri"/>
                <a:ea typeface="Calibri"/>
                <a:cs typeface="Calibri"/>
                <a:sym typeface="Calibri"/>
              </a:rPr>
              <a:t> Benay</a:t>
            </a:r>
            <a:endParaRPr sz="1250">
              <a:solidFill>
                <a:srgbClr val="8FC4B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C4BE"/>
              </a:buClr>
              <a:buSzPts val="1250"/>
              <a:buFont typeface="Calibri"/>
              <a:buNone/>
            </a:pPr>
            <a:endParaRPr sz="500">
              <a:solidFill>
                <a:srgbClr val="8FC4B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C4B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8FC4BE"/>
                </a:solidFill>
                <a:latin typeface="Calibri"/>
                <a:ea typeface="Calibri"/>
                <a:cs typeface="Calibri"/>
                <a:sym typeface="Calibri"/>
              </a:rPr>
              <a:t>July 2026</a:t>
            </a:r>
            <a:endParaRPr sz="1250">
              <a:solidFill>
                <a:srgbClr val="8FC4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46489a4ea_0_0"/>
          <p:cNvSpPr/>
          <p:nvPr/>
        </p:nvSpPr>
        <p:spPr>
          <a:xfrm>
            <a:off x="640080" y="384048"/>
            <a:ext cx="10881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PROJECT SCOPE</a:t>
            </a:r>
            <a:endParaRPr lang="en-US"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f46489a4ea_0_0"/>
          <p:cNvSpPr/>
          <p:nvPr/>
        </p:nvSpPr>
        <p:spPr>
          <a:xfrm>
            <a:off x="640080" y="658368"/>
            <a:ext cx="10881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Thousands of reviews, no time to read them</a:t>
            </a:r>
            <a:endParaRPr sz="3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f46489a4ea_0_0"/>
          <p:cNvSpPr/>
          <p:nvPr/>
        </p:nvSpPr>
        <p:spPr>
          <a:xfrm>
            <a:off x="640080" y="1481328"/>
            <a:ext cx="10881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Product feedback is scattered across platforms and grows faster than any team can read. This project automates the reading with three tasks that turn raw reviews into structured insight: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33C7B4-1CC7-7F63-89BC-2C4192918A2E}"/>
              </a:ext>
            </a:extLst>
          </p:cNvPr>
          <p:cNvGrpSpPr/>
          <p:nvPr/>
        </p:nvGrpSpPr>
        <p:grpSpPr>
          <a:xfrm>
            <a:off x="658368" y="2514600"/>
            <a:ext cx="3410700" cy="3383400"/>
            <a:chOff x="4398264" y="2514600"/>
            <a:chExt cx="3410700" cy="3383400"/>
          </a:xfrm>
        </p:grpSpPr>
        <p:sp>
          <p:nvSpPr>
            <p:cNvPr id="39" name="Google Shape;39;g3f46489a4ea_0_0"/>
            <p:cNvSpPr/>
            <p:nvPr/>
          </p:nvSpPr>
          <p:spPr>
            <a:xfrm>
              <a:off x="4398264" y="2514600"/>
              <a:ext cx="3410700" cy="3383400"/>
            </a:xfrm>
            <a:prstGeom prst="roundRect">
              <a:avLst>
                <a:gd name="adj" fmla="val 2432"/>
              </a:avLst>
            </a:prstGeom>
            <a:solidFill>
              <a:srgbClr val="FFFFFF"/>
            </a:solidFill>
            <a:ln w="127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38100" dir="5400000" algn="bl" rotWithShape="0">
                <a:srgbClr val="0B2C2B">
                  <a:alpha val="1607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g3f46489a4ea_0_0"/>
            <p:cNvSpPr/>
            <p:nvPr/>
          </p:nvSpPr>
          <p:spPr>
            <a:xfrm>
              <a:off x="4398264" y="2514600"/>
              <a:ext cx="3410700" cy="1417200"/>
            </a:xfrm>
            <a:prstGeom prst="roundRect">
              <a:avLst>
                <a:gd name="adj" fmla="val 5806"/>
              </a:avLst>
            </a:prstGeom>
            <a:solidFill>
              <a:srgbClr val="148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g3f46489a4ea_0_0"/>
            <p:cNvSpPr/>
            <p:nvPr/>
          </p:nvSpPr>
          <p:spPr>
            <a:xfrm>
              <a:off x="4398264" y="3429000"/>
              <a:ext cx="3410700" cy="502800"/>
            </a:xfrm>
            <a:prstGeom prst="rect">
              <a:avLst/>
            </a:prstGeom>
            <a:solidFill>
              <a:srgbClr val="148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g3f46489a4ea_0_0"/>
            <p:cNvSpPr/>
            <p:nvPr/>
          </p:nvSpPr>
          <p:spPr>
            <a:xfrm>
              <a:off x="4654296" y="2660904"/>
              <a:ext cx="2898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CBEFEA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 dirty="0">
                  <a:solidFill>
                    <a:srgbClr val="CBEFEA"/>
                  </a:solidFill>
                  <a:latin typeface="Calibri"/>
                  <a:ea typeface="Calibri"/>
                  <a:cs typeface="Calibri"/>
                  <a:sym typeface="Calibri"/>
                </a:rPr>
                <a:t>TASK 0</a:t>
              </a:r>
              <a:r>
                <a:rPr lang="en-US" sz="1100" b="1" dirty="0">
                  <a:solidFill>
                    <a:srgbClr val="CBEFEA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g3f46489a4ea_0_0"/>
            <p:cNvSpPr/>
            <p:nvPr/>
          </p:nvSpPr>
          <p:spPr>
            <a:xfrm>
              <a:off x="5719572" y="2898648"/>
              <a:ext cx="768000" cy="768000"/>
            </a:xfrm>
            <a:prstGeom prst="ellipse">
              <a:avLst/>
            </a:prstGeom>
            <a:solidFill>
              <a:srgbClr val="0A2E2D"/>
            </a:solidFill>
            <a:ln>
              <a:noFill/>
            </a:ln>
            <a:effectLst>
              <a:outerShdw blurRad="114300" dist="38100" dir="5400000" algn="bl" rotWithShape="0">
                <a:srgbClr val="0B2C2B">
                  <a:alpha val="1607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4" name="Google Shape;44;g3f46489a4ea_0_0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919277" y="3098353"/>
              <a:ext cx="368686" cy="368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45;g3f46489a4ea_0_0"/>
            <p:cNvSpPr/>
            <p:nvPr/>
          </p:nvSpPr>
          <p:spPr>
            <a:xfrm>
              <a:off x="4398264" y="4082550"/>
              <a:ext cx="34107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2300"/>
                <a:buFont typeface="Cambria"/>
                <a:buNone/>
              </a:pPr>
              <a:r>
                <a:rPr lang="en-US" sz="2300" b="1">
                  <a:solidFill>
                    <a:srgbClr val="1E293B"/>
                  </a:solidFill>
                  <a:latin typeface="Cambria"/>
                  <a:ea typeface="Cambria"/>
                  <a:cs typeface="Cambria"/>
                  <a:sym typeface="Cambria"/>
                </a:rPr>
                <a:t>Product </a:t>
              </a:r>
              <a:r>
                <a:rPr lang="en-US" sz="2300" b="1" i="0" u="none" strike="noStrike" cap="none">
                  <a:solidFill>
                    <a:srgbClr val="1E293B"/>
                  </a:solidFill>
                  <a:latin typeface="Cambria"/>
                  <a:ea typeface="Cambria"/>
                  <a:cs typeface="Cambria"/>
                  <a:sym typeface="Cambria"/>
                </a:rPr>
                <a:t>Clustering</a:t>
              </a:r>
              <a:endPara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g3f46489a4ea_0_0"/>
            <p:cNvSpPr/>
            <p:nvPr/>
          </p:nvSpPr>
          <p:spPr>
            <a:xfrm>
              <a:off x="4690872" y="4636008"/>
              <a:ext cx="2825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300"/>
                <a:buFont typeface="Calibri"/>
                <a:buNone/>
              </a:pPr>
              <a:r>
                <a:rPr lang="en-US" sz="1300" b="0" i="0" u="none" strike="noStrike" cap="none" dirty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Clustered thousands of products into a handful of meaningful product categories</a:t>
              </a:r>
              <a:endParaRPr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486D899-ADCC-5CE4-6AF1-C3415DF94FEA}"/>
              </a:ext>
            </a:extLst>
          </p:cNvPr>
          <p:cNvGrpSpPr/>
          <p:nvPr/>
        </p:nvGrpSpPr>
        <p:grpSpPr>
          <a:xfrm>
            <a:off x="4398264" y="2514600"/>
            <a:ext cx="3410700" cy="3383400"/>
            <a:chOff x="658368" y="2514600"/>
            <a:chExt cx="3410700" cy="3383400"/>
          </a:xfrm>
        </p:grpSpPr>
        <p:sp>
          <p:nvSpPr>
            <p:cNvPr id="31" name="Google Shape;31;g3f46489a4ea_0_0"/>
            <p:cNvSpPr/>
            <p:nvPr/>
          </p:nvSpPr>
          <p:spPr>
            <a:xfrm>
              <a:off x="658368" y="2514600"/>
              <a:ext cx="3410700" cy="3383400"/>
            </a:xfrm>
            <a:prstGeom prst="roundRect">
              <a:avLst>
                <a:gd name="adj" fmla="val 2432"/>
              </a:avLst>
            </a:prstGeom>
            <a:solidFill>
              <a:srgbClr val="FFFFFF"/>
            </a:solidFill>
            <a:ln w="127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38100" dir="5400000" algn="bl" rotWithShape="0">
                <a:srgbClr val="0B2C2B">
                  <a:alpha val="1607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g3f46489a4ea_0_0"/>
            <p:cNvSpPr/>
            <p:nvPr/>
          </p:nvSpPr>
          <p:spPr>
            <a:xfrm>
              <a:off x="658368" y="2514600"/>
              <a:ext cx="3410700" cy="1417200"/>
            </a:xfrm>
            <a:prstGeom prst="roundRect">
              <a:avLst>
                <a:gd name="adj" fmla="val 5806"/>
              </a:avLst>
            </a:prstGeom>
            <a:solidFill>
              <a:srgbClr val="0F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g3f46489a4ea_0_0"/>
            <p:cNvSpPr/>
            <p:nvPr/>
          </p:nvSpPr>
          <p:spPr>
            <a:xfrm>
              <a:off x="658368" y="3429000"/>
              <a:ext cx="3410700" cy="5028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g3f46489a4ea_0_0"/>
            <p:cNvSpPr/>
            <p:nvPr/>
          </p:nvSpPr>
          <p:spPr>
            <a:xfrm>
              <a:off x="914400" y="2660904"/>
              <a:ext cx="2898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CBEFEA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 dirty="0">
                  <a:solidFill>
                    <a:srgbClr val="CBEFEA"/>
                  </a:solidFill>
                  <a:latin typeface="Calibri"/>
                  <a:ea typeface="Calibri"/>
                  <a:cs typeface="Calibri"/>
                  <a:sym typeface="Calibri"/>
                </a:rPr>
                <a:t>TASK 0</a:t>
              </a:r>
              <a:r>
                <a:rPr lang="en-US" sz="1100" b="1" dirty="0">
                  <a:solidFill>
                    <a:srgbClr val="CBEFEA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g3f46489a4ea_0_0"/>
            <p:cNvSpPr/>
            <p:nvPr/>
          </p:nvSpPr>
          <p:spPr>
            <a:xfrm>
              <a:off x="1979676" y="2898648"/>
              <a:ext cx="768000" cy="768000"/>
            </a:xfrm>
            <a:prstGeom prst="ellipse">
              <a:avLst/>
            </a:prstGeom>
            <a:solidFill>
              <a:srgbClr val="0A2E2D"/>
            </a:solidFill>
            <a:ln>
              <a:noFill/>
            </a:ln>
            <a:effectLst>
              <a:outerShdw blurRad="114300" dist="38100" dir="5400000" algn="bl" rotWithShape="0">
                <a:srgbClr val="0B2C2B">
                  <a:alpha val="1607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" name="Google Shape;36;g3f46489a4ea_0_0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79381" y="3098353"/>
              <a:ext cx="368686" cy="368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Google Shape;37;g3f46489a4ea_0_0"/>
            <p:cNvSpPr/>
            <p:nvPr/>
          </p:nvSpPr>
          <p:spPr>
            <a:xfrm>
              <a:off x="658368" y="4050792"/>
              <a:ext cx="34107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2300"/>
                <a:buFont typeface="Cambria"/>
                <a:buNone/>
              </a:pPr>
              <a:r>
                <a:rPr lang="en-US" sz="2300" b="1" dirty="0">
                  <a:solidFill>
                    <a:srgbClr val="1E293B"/>
                  </a:solidFill>
                  <a:latin typeface="Cambria"/>
                  <a:ea typeface="Cambria"/>
                  <a:cs typeface="Cambria"/>
                  <a:sym typeface="Cambria"/>
                </a:rPr>
                <a:t>Review </a:t>
              </a:r>
              <a:r>
                <a:rPr lang="en-US" sz="2300" b="1" i="0" u="none" strike="noStrike" cap="none" dirty="0">
                  <a:solidFill>
                    <a:srgbClr val="1E293B"/>
                  </a:solidFill>
                  <a:latin typeface="Cambria"/>
                  <a:ea typeface="Cambria"/>
                  <a:cs typeface="Cambria"/>
                  <a:sym typeface="Cambria"/>
                </a:rPr>
                <a:t>Classification</a:t>
              </a:r>
              <a:endParaRPr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g3f46489a4ea_0_0"/>
            <p:cNvSpPr/>
            <p:nvPr/>
          </p:nvSpPr>
          <p:spPr>
            <a:xfrm>
              <a:off x="950976" y="4636008"/>
              <a:ext cx="2825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300"/>
                <a:buFont typeface="Calibri"/>
                <a:buNone/>
              </a:pPr>
              <a:r>
                <a:rPr lang="en-US" sz="1300" b="0" i="0" u="none" strike="noStrike" cap="none" dirty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Every review was labeled </a:t>
              </a:r>
              <a:r>
                <a:rPr lang="en-US" sz="1300" dirty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as </a:t>
              </a:r>
              <a:r>
                <a:rPr lang="en-US" sz="1300" b="0" i="0" u="none" strike="noStrike" cap="none" dirty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Positive, Neutral or Negative leveraging an existing fine-tuned transformer model</a:t>
              </a:r>
              <a:endParaRPr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g3f46489a4ea_0_0"/>
          <p:cNvSpPr/>
          <p:nvPr/>
        </p:nvSpPr>
        <p:spPr>
          <a:xfrm>
            <a:off x="8138160" y="2514600"/>
            <a:ext cx="3410700" cy="33834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g3f46489a4ea_0_0"/>
          <p:cNvSpPr/>
          <p:nvPr/>
        </p:nvSpPr>
        <p:spPr>
          <a:xfrm>
            <a:off x="8138160" y="2514600"/>
            <a:ext cx="3410700" cy="1417200"/>
          </a:xfrm>
          <a:prstGeom prst="roundRect">
            <a:avLst>
              <a:gd name="adj" fmla="val 5806"/>
            </a:avLst>
          </a:prstGeom>
          <a:solidFill>
            <a:srgbClr val="0D3B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f46489a4ea_0_0"/>
          <p:cNvSpPr/>
          <p:nvPr/>
        </p:nvSpPr>
        <p:spPr>
          <a:xfrm>
            <a:off x="8138160" y="3429000"/>
            <a:ext cx="3410700" cy="5028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f46489a4ea_0_0"/>
          <p:cNvSpPr/>
          <p:nvPr/>
        </p:nvSpPr>
        <p:spPr>
          <a:xfrm>
            <a:off x="8394192" y="2660904"/>
            <a:ext cx="2898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EFE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TASK 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f46489a4ea_0_0"/>
          <p:cNvSpPr/>
          <p:nvPr/>
        </p:nvSpPr>
        <p:spPr>
          <a:xfrm>
            <a:off x="9459468" y="2898648"/>
            <a:ext cx="768000" cy="768000"/>
          </a:xfrm>
          <a:prstGeom prst="ellipse">
            <a:avLst/>
          </a:prstGeom>
          <a:solidFill>
            <a:srgbClr val="0A2E2D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g3f46489a4ea_0_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59173" y="3098353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f46489a4ea_0_0"/>
          <p:cNvSpPr/>
          <p:nvPr/>
        </p:nvSpPr>
        <p:spPr>
          <a:xfrm>
            <a:off x="8138160" y="4092205"/>
            <a:ext cx="3410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00"/>
              <a:buFont typeface="Cambria"/>
              <a:buNone/>
            </a:pPr>
            <a:r>
              <a:rPr lang="en-US" sz="2300" b="1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Generative </a:t>
            </a:r>
            <a:r>
              <a:rPr lang="en-US" sz="230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Summarization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f46489a4ea_0_0"/>
          <p:cNvSpPr/>
          <p:nvPr/>
        </p:nvSpPr>
        <p:spPr>
          <a:xfrm>
            <a:off x="8430768" y="4636008"/>
            <a:ext cx="282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AI-generated recommendations of top products and flagging common complaints across articles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A2FB63-B91E-E9BF-3CB1-543E7A733A4E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46489a4ea_1_0"/>
          <p:cNvSpPr/>
          <p:nvPr/>
        </p:nvSpPr>
        <p:spPr>
          <a:xfrm>
            <a:off x="640080" y="384048"/>
            <a:ext cx="10881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0. DATA EXPLORATION</a:t>
            </a:r>
            <a:endParaRPr lang="en-US"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f46489a4ea_1_0"/>
          <p:cNvSpPr/>
          <p:nvPr/>
        </p:nvSpPr>
        <p:spPr>
          <a:xfrm>
            <a:off x="627325" y="658375"/>
            <a:ext cx="10881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Two very different datasets </a:t>
            </a:r>
            <a:r>
              <a:rPr lang="en-US" sz="31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of</a:t>
            </a: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1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Amazon reviews from 2023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46489a4ea_1_0"/>
          <p:cNvSpPr/>
          <p:nvPr/>
        </p:nvSpPr>
        <p:spPr>
          <a:xfrm>
            <a:off x="640080" y="1327027"/>
            <a:ext cx="10881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Calibri"/>
              <a:buNone/>
            </a:pP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customer's written account of their feedback about a product, usually paired with a star rating between 1 and 5.</a:t>
            </a:r>
            <a:endParaRPr sz="14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46489a4ea_1_0"/>
          <p:cNvSpPr/>
          <p:nvPr/>
        </p:nvSpPr>
        <p:spPr>
          <a:xfrm>
            <a:off x="658375" y="1956399"/>
            <a:ext cx="5294400" cy="40221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f46489a4ea_1_0"/>
          <p:cNvSpPr/>
          <p:nvPr/>
        </p:nvSpPr>
        <p:spPr>
          <a:xfrm>
            <a:off x="658368" y="1956405"/>
            <a:ext cx="5294400" cy="530400"/>
          </a:xfrm>
          <a:prstGeom prst="roundRect">
            <a:avLst>
              <a:gd name="adj" fmla="val 15517"/>
            </a:avLst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f46489a4ea_1_0"/>
          <p:cNvSpPr/>
          <p:nvPr/>
        </p:nvSpPr>
        <p:spPr>
          <a:xfrm>
            <a:off x="658368" y="2267301"/>
            <a:ext cx="5294400" cy="219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f46489a4ea_1_0"/>
          <p:cNvSpPr/>
          <p:nvPr/>
        </p:nvSpPr>
        <p:spPr>
          <a:xfrm>
            <a:off x="914400" y="1956405"/>
            <a:ext cx="4782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Primary — Datafiniti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46489a4ea_1_0"/>
          <p:cNvSpPr/>
          <p:nvPr/>
        </p:nvSpPr>
        <p:spPr>
          <a:xfrm>
            <a:off x="522568" y="2614773"/>
            <a:ext cx="164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7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lang="en-US" sz="17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8k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46489a4ea_1_0"/>
          <p:cNvSpPr/>
          <p:nvPr/>
        </p:nvSpPr>
        <p:spPr>
          <a:xfrm>
            <a:off x="522568" y="3053685"/>
            <a:ext cx="164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eviews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f46489a4ea_1_0"/>
          <p:cNvSpPr/>
          <p:nvPr/>
        </p:nvSpPr>
        <p:spPr>
          <a:xfrm>
            <a:off x="1604562" y="2614773"/>
            <a:ext cx="164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7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92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f46489a4ea_1_0"/>
          <p:cNvSpPr/>
          <p:nvPr/>
        </p:nvSpPr>
        <p:spPr>
          <a:xfrm>
            <a:off x="1604562" y="3053685"/>
            <a:ext cx="164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 P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roducts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f46489a4ea_1_0"/>
          <p:cNvSpPr/>
          <p:nvPr/>
        </p:nvSpPr>
        <p:spPr>
          <a:xfrm>
            <a:off x="2943118" y="2614773"/>
            <a:ext cx="164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92% rated 4–5★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46489a4ea_1_0"/>
          <p:cNvSpPr/>
          <p:nvPr/>
        </p:nvSpPr>
        <p:spPr>
          <a:xfrm>
            <a:off x="2943118" y="3053685"/>
            <a:ext cx="164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ating skew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46489a4ea_1_0"/>
          <p:cNvSpPr/>
          <p:nvPr/>
        </p:nvSpPr>
        <p:spPr>
          <a:xfrm>
            <a:off x="6245350" y="1956400"/>
            <a:ext cx="5294400" cy="40221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f46489a4ea_1_0"/>
          <p:cNvSpPr/>
          <p:nvPr/>
        </p:nvSpPr>
        <p:spPr>
          <a:xfrm>
            <a:off x="6245352" y="1956405"/>
            <a:ext cx="5294400" cy="530400"/>
          </a:xfrm>
          <a:prstGeom prst="roundRect">
            <a:avLst>
              <a:gd name="adj" fmla="val 15517"/>
            </a:avLst>
          </a:prstGeom>
          <a:solidFill>
            <a:srgbClr val="0D3B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f46489a4ea_1_0"/>
          <p:cNvSpPr/>
          <p:nvPr/>
        </p:nvSpPr>
        <p:spPr>
          <a:xfrm>
            <a:off x="6245352" y="2267301"/>
            <a:ext cx="5294400" cy="2196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f46489a4ea_1_0"/>
          <p:cNvSpPr/>
          <p:nvPr/>
        </p:nvSpPr>
        <p:spPr>
          <a:xfrm>
            <a:off x="6501384" y="1956405"/>
            <a:ext cx="4782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Secondary — McAuley/UCSD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46489a4ea_1_0"/>
          <p:cNvSpPr/>
          <p:nvPr/>
        </p:nvSpPr>
        <p:spPr>
          <a:xfrm>
            <a:off x="6007574" y="2614773"/>
            <a:ext cx="164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7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3.29M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46489a4ea_1_0"/>
          <p:cNvSpPr/>
          <p:nvPr/>
        </p:nvSpPr>
        <p:spPr>
          <a:xfrm>
            <a:off x="6007574" y="3053685"/>
            <a:ext cx="164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eviews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46489a4ea_1_0"/>
          <p:cNvSpPr/>
          <p:nvPr/>
        </p:nvSpPr>
        <p:spPr>
          <a:xfrm>
            <a:off x="7055337" y="2614773"/>
            <a:ext cx="164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7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34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46489a4ea_1_0"/>
          <p:cNvSpPr/>
          <p:nvPr/>
        </p:nvSpPr>
        <p:spPr>
          <a:xfrm>
            <a:off x="7055337" y="3053685"/>
            <a:ext cx="164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roduct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46489a4ea_1_0"/>
          <p:cNvSpPr/>
          <p:nvPr/>
        </p:nvSpPr>
        <p:spPr>
          <a:xfrm>
            <a:off x="8443265" y="2614773"/>
            <a:ext cx="164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81% rated 4–5★</a:t>
            </a:r>
            <a:endParaRPr sz="1500" b="1">
              <a:solidFill>
                <a:srgbClr val="1E293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2" name="Google Shape;82;g3f46489a4ea_1_0"/>
          <p:cNvSpPr/>
          <p:nvPr/>
        </p:nvSpPr>
        <p:spPr>
          <a:xfrm>
            <a:off x="8443265" y="3053685"/>
            <a:ext cx="164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ating skew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g3f46489a4ea_1_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2050" y="4394195"/>
            <a:ext cx="263347" cy="26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f46489a4ea_1_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1946" y="4394195"/>
            <a:ext cx="263347" cy="26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f46489a4ea_1_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1842" y="4394195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f46489a4ea_1_0"/>
          <p:cNvSpPr/>
          <p:nvPr/>
        </p:nvSpPr>
        <p:spPr>
          <a:xfrm>
            <a:off x="10059647" y="2613434"/>
            <a:ext cx="164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7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25 words</a:t>
            </a:r>
            <a:endParaRPr sz="170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7" name="Google Shape;87;g3f46489a4ea_1_0"/>
          <p:cNvSpPr/>
          <p:nvPr/>
        </p:nvSpPr>
        <p:spPr>
          <a:xfrm>
            <a:off x="10059647" y="3052346"/>
            <a:ext cx="164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Median review length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46489a4ea_1_0"/>
          <p:cNvSpPr/>
          <p:nvPr/>
        </p:nvSpPr>
        <p:spPr>
          <a:xfrm>
            <a:off x="4424561" y="2606311"/>
            <a:ext cx="164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7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19 words</a:t>
            </a:r>
            <a:endParaRPr sz="170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f46489a4ea_1_0"/>
          <p:cNvSpPr/>
          <p:nvPr/>
        </p:nvSpPr>
        <p:spPr>
          <a:xfrm>
            <a:off x="4424561" y="3045223"/>
            <a:ext cx="164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Median review length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f46489a4ea_1_0"/>
          <p:cNvSpPr/>
          <p:nvPr/>
        </p:nvSpPr>
        <p:spPr>
          <a:xfrm>
            <a:off x="932688" y="3562353"/>
            <a:ext cx="4745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Product catalog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46489a4ea_1_0"/>
          <p:cNvSpPr/>
          <p:nvPr/>
        </p:nvSpPr>
        <p:spPr>
          <a:xfrm>
            <a:off x="932688" y="3781809"/>
            <a:ext cx="4745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brand, manufacturer, 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sz="1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46489a4ea_1_0"/>
          <p:cNvSpPr/>
          <p:nvPr/>
        </p:nvSpPr>
        <p:spPr>
          <a:xfrm>
            <a:off x="932688" y="4092705"/>
            <a:ext cx="4745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Review content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46489a4ea_1_0"/>
          <p:cNvSpPr/>
          <p:nvPr/>
        </p:nvSpPr>
        <p:spPr>
          <a:xfrm>
            <a:off x="932688" y="4312161"/>
            <a:ext cx="4745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text, title, rating, date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f46489a4ea_1_0"/>
          <p:cNvSpPr/>
          <p:nvPr/>
        </p:nvSpPr>
        <p:spPr>
          <a:xfrm>
            <a:off x="932688" y="4623057"/>
            <a:ext cx="4745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Extra metadata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46489a4ea_1_0"/>
          <p:cNvSpPr/>
          <p:nvPr/>
        </p:nvSpPr>
        <p:spPr>
          <a:xfrm>
            <a:off x="932688" y="4842513"/>
            <a:ext cx="4745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purchase flag, user city/province, helpful count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46489a4ea_1_0"/>
          <p:cNvSpPr/>
          <p:nvPr/>
        </p:nvSpPr>
        <p:spPr>
          <a:xfrm>
            <a:off x="932688" y="5263137"/>
            <a:ext cx="4745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rich scraped product catalog </a:t>
            </a: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every review is tied to a fully-described product.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46489a4ea_1_0"/>
          <p:cNvSpPr/>
          <p:nvPr/>
        </p:nvSpPr>
        <p:spPr>
          <a:xfrm>
            <a:off x="6519672" y="4110483"/>
            <a:ext cx="4745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Review content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46489a4ea_1_0"/>
          <p:cNvSpPr/>
          <p:nvPr/>
        </p:nvSpPr>
        <p:spPr>
          <a:xfrm>
            <a:off x="6519672" y="4329939"/>
            <a:ext cx="4745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rating, timestamp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46489a4ea_1_0"/>
          <p:cNvSpPr/>
          <p:nvPr/>
        </p:nvSpPr>
        <p:spPr>
          <a:xfrm>
            <a:off x="6519672" y="3595564"/>
            <a:ext cx="4745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Product ID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46489a4ea_1_0"/>
          <p:cNvSpPr/>
          <p:nvPr/>
        </p:nvSpPr>
        <p:spPr>
          <a:xfrm>
            <a:off x="6519672" y="3815020"/>
            <a:ext cx="4745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asin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+ a single generic </a:t>
            </a:r>
            <a:r>
              <a:rPr lang="en-US" sz="120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category label</a:t>
            </a:r>
            <a:endParaRPr sz="12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46489a4ea_1_0"/>
          <p:cNvSpPr/>
          <p:nvPr/>
        </p:nvSpPr>
        <p:spPr>
          <a:xfrm>
            <a:off x="6519672" y="4623057"/>
            <a:ext cx="4745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Extra metadata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46489a4ea_1_0"/>
          <p:cNvSpPr/>
          <p:nvPr/>
        </p:nvSpPr>
        <p:spPr>
          <a:xfrm>
            <a:off x="6519672" y="4842513"/>
            <a:ext cx="4745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verified purchase, helpful vote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46489a4ea_1_0"/>
          <p:cNvSpPr/>
          <p:nvPr/>
        </p:nvSpPr>
        <p:spPr>
          <a:xfrm>
            <a:off x="6519672" y="5263137"/>
            <a:ext cx="4745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lean, review-first schema </a:t>
            </a: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no product name, brand, or category hierarchy.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D411C7-D242-F3B3-0218-B432F8DEE7A5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46489a4ea_1_44"/>
          <p:cNvSpPr/>
          <p:nvPr/>
        </p:nvSpPr>
        <p:spPr>
          <a:xfrm>
            <a:off x="640080" y="384048"/>
            <a:ext cx="10881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0. FEATURE ENGINEERING</a:t>
            </a:r>
            <a:endParaRPr lang="en-US"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46489a4ea_1_44"/>
          <p:cNvSpPr/>
          <p:nvPr/>
        </p:nvSpPr>
        <p:spPr>
          <a:xfrm>
            <a:off x="640080" y="658368"/>
            <a:ext cx="10881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From raw scrapes to a balanced, model-ready dataset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46489a4ea_1_44"/>
          <p:cNvSpPr/>
          <p:nvPr/>
        </p:nvSpPr>
        <p:spPr>
          <a:xfrm>
            <a:off x="640080" y="1444752"/>
            <a:ext cx="10881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After profile what each dataset contains, how it's structured, and where the two diverge, it was decide to combine them.</a:t>
            </a:r>
            <a:endParaRPr sz="14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steps turn two messy raw sources into one clean, schema-aligned, class-balanced dataset ready for training.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46489a4ea_1_44"/>
          <p:cNvSpPr/>
          <p:nvPr/>
        </p:nvSpPr>
        <p:spPr>
          <a:xfrm>
            <a:off x="658375" y="2148850"/>
            <a:ext cx="3410700" cy="208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f46489a4ea_1_44"/>
          <p:cNvSpPr/>
          <p:nvPr/>
        </p:nvSpPr>
        <p:spPr>
          <a:xfrm>
            <a:off x="658375" y="2148845"/>
            <a:ext cx="3410700" cy="548700"/>
          </a:xfrm>
          <a:prstGeom prst="roundRect">
            <a:avLst>
              <a:gd name="adj" fmla="val 7826"/>
            </a:avLst>
          </a:prstGeom>
          <a:solidFill>
            <a:srgbClr val="148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f46489a4ea_1_44"/>
          <p:cNvSpPr/>
          <p:nvPr/>
        </p:nvSpPr>
        <p:spPr>
          <a:xfrm>
            <a:off x="896112" y="2276856"/>
            <a:ext cx="2935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EFE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46489a4ea_1_44"/>
          <p:cNvSpPr/>
          <p:nvPr/>
        </p:nvSpPr>
        <p:spPr>
          <a:xfrm>
            <a:off x="1090699" y="2833950"/>
            <a:ext cx="2487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29184" marR="0" lvl="0" indent="-17995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Drop reviews with missing text.</a:t>
            </a:r>
            <a:endParaRPr sz="12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9184" marR="0" lvl="0" indent="-17995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Drop missing 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rating.</a:t>
            </a:r>
            <a:endParaRPr sz="12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9184" marR="0" lvl="0" indent="-17995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emove reviews under 10 words.</a:t>
            </a:r>
            <a:endParaRPr sz="12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9184" marR="0" lvl="0" indent="-17995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emove duplicate reviews.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g3f46489a4ea_1_44"/>
          <p:cNvCxnSpPr/>
          <p:nvPr/>
        </p:nvCxnSpPr>
        <p:spPr>
          <a:xfrm>
            <a:off x="1024128" y="3785562"/>
            <a:ext cx="2679300" cy="0"/>
          </a:xfrm>
          <a:prstGeom prst="straightConnector1">
            <a:avLst/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g3f46489a4ea_1_44"/>
          <p:cNvSpPr/>
          <p:nvPr/>
        </p:nvSpPr>
        <p:spPr>
          <a:xfrm>
            <a:off x="841248" y="3858714"/>
            <a:ext cx="3045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857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4857F"/>
                </a:solidFill>
                <a:latin typeface="Calibri"/>
                <a:ea typeface="Calibri"/>
                <a:cs typeface="Calibri"/>
                <a:sym typeface="Calibri"/>
              </a:rPr>
              <a:t>Primary: </a:t>
            </a:r>
            <a:r>
              <a:rPr lang="en-US" sz="1050" b="1" i="0" u="none" strike="noStrike" cap="none">
                <a:solidFill>
                  <a:srgbClr val="14857F"/>
                </a:solidFill>
                <a:latin typeface="Calibri"/>
                <a:ea typeface="Calibri"/>
                <a:cs typeface="Calibri"/>
                <a:sym typeface="Calibri"/>
              </a:rPr>
              <a:t>68k → 41k   ·   </a:t>
            </a:r>
            <a:r>
              <a:rPr lang="en-US" sz="1050" b="1">
                <a:solidFill>
                  <a:srgbClr val="14857F"/>
                </a:solidFill>
                <a:latin typeface="Calibri"/>
                <a:ea typeface="Calibri"/>
                <a:cs typeface="Calibri"/>
                <a:sym typeface="Calibri"/>
              </a:rPr>
              <a:t>Secondary: </a:t>
            </a:r>
            <a:r>
              <a:rPr lang="en-US" sz="1050" b="1" i="0" u="none" strike="noStrike" cap="none">
                <a:solidFill>
                  <a:srgbClr val="14857F"/>
                </a:solidFill>
                <a:latin typeface="Calibri"/>
                <a:ea typeface="Calibri"/>
                <a:cs typeface="Calibri"/>
                <a:sym typeface="Calibri"/>
              </a:rPr>
              <a:t>3.29M → 2.43M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46489a4ea_1_44"/>
          <p:cNvSpPr/>
          <p:nvPr/>
        </p:nvSpPr>
        <p:spPr>
          <a:xfrm>
            <a:off x="4087368" y="2947790"/>
            <a:ext cx="329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46489a4ea_1_44"/>
          <p:cNvSpPr/>
          <p:nvPr/>
        </p:nvSpPr>
        <p:spPr>
          <a:xfrm>
            <a:off x="4398275" y="2148847"/>
            <a:ext cx="3410700" cy="2058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f46489a4ea_1_44"/>
          <p:cNvSpPr/>
          <p:nvPr/>
        </p:nvSpPr>
        <p:spPr>
          <a:xfrm>
            <a:off x="4398275" y="2148846"/>
            <a:ext cx="3410700" cy="548700"/>
          </a:xfrm>
          <a:prstGeom prst="roundRect">
            <a:avLst>
              <a:gd name="adj" fmla="val 7826"/>
            </a:avLst>
          </a:prstGeom>
          <a:solidFill>
            <a:srgbClr val="0F76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f46489a4ea_1_44"/>
          <p:cNvSpPr/>
          <p:nvPr/>
        </p:nvSpPr>
        <p:spPr>
          <a:xfrm>
            <a:off x="4636008" y="2276856"/>
            <a:ext cx="2935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EFE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46489a4ea_1_44"/>
          <p:cNvSpPr/>
          <p:nvPr/>
        </p:nvSpPr>
        <p:spPr>
          <a:xfrm>
            <a:off x="4783817" y="2849550"/>
            <a:ext cx="2679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29184" marR="0" lvl="0" indent="-17995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Common 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across both data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sets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9184" marR="0" lvl="0" indent="-17995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●"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Secondary donates reviews to top up under-represented ratings.</a:t>
            </a:r>
            <a:endParaRPr sz="12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f46489a4ea_1_44"/>
          <p:cNvCxnSpPr/>
          <p:nvPr/>
        </p:nvCxnSpPr>
        <p:spPr>
          <a:xfrm>
            <a:off x="4764024" y="3785562"/>
            <a:ext cx="2679300" cy="0"/>
          </a:xfrm>
          <a:prstGeom prst="straightConnector1">
            <a:avLst/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g3f46489a4ea_1_44"/>
          <p:cNvSpPr/>
          <p:nvPr/>
        </p:nvSpPr>
        <p:spPr>
          <a:xfrm>
            <a:off x="4581144" y="3858714"/>
            <a:ext cx="3045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 × 35,000 = 175,000 </a:t>
            </a:r>
            <a:r>
              <a:rPr lang="en-US" sz="1050" b="1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46489a4ea_1_44"/>
          <p:cNvSpPr/>
          <p:nvPr/>
        </p:nvSpPr>
        <p:spPr>
          <a:xfrm>
            <a:off x="7827264" y="2947790"/>
            <a:ext cx="329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46489a4ea_1_44"/>
          <p:cNvSpPr/>
          <p:nvPr/>
        </p:nvSpPr>
        <p:spPr>
          <a:xfrm>
            <a:off x="8138150" y="2148850"/>
            <a:ext cx="3410700" cy="208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f46489a4ea_1_44"/>
          <p:cNvSpPr/>
          <p:nvPr/>
        </p:nvSpPr>
        <p:spPr>
          <a:xfrm>
            <a:off x="8138150" y="2148845"/>
            <a:ext cx="3410700" cy="548700"/>
          </a:xfrm>
          <a:prstGeom prst="roundRect">
            <a:avLst>
              <a:gd name="adj" fmla="val 7826"/>
            </a:avLst>
          </a:prstGeom>
          <a:solidFill>
            <a:srgbClr val="0D3B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f46489a4ea_1_44"/>
          <p:cNvSpPr/>
          <p:nvPr/>
        </p:nvSpPr>
        <p:spPr>
          <a:xfrm>
            <a:off x="8375904" y="2276856"/>
            <a:ext cx="2935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EFE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46489a4ea_1_44"/>
          <p:cNvSpPr/>
          <p:nvPr/>
        </p:nvSpPr>
        <p:spPr>
          <a:xfrm>
            <a:off x="8321030" y="2841020"/>
            <a:ext cx="2862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1–2★ → Negative</a:t>
            </a:r>
            <a:endParaRPr sz="12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3★ → Neutral</a:t>
            </a:r>
            <a:endParaRPr sz="12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4–5★ → Positi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   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g3f46489a4ea_1_44"/>
          <p:cNvCxnSpPr/>
          <p:nvPr/>
        </p:nvCxnSpPr>
        <p:spPr>
          <a:xfrm>
            <a:off x="8503920" y="3785562"/>
            <a:ext cx="2679300" cy="0"/>
          </a:xfrm>
          <a:prstGeom prst="straightConnector1">
            <a:avLst/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g3f46489a4ea_1_44"/>
          <p:cNvSpPr/>
          <p:nvPr/>
        </p:nvSpPr>
        <p:spPr>
          <a:xfrm>
            <a:off x="8321040" y="3858714"/>
            <a:ext cx="3045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40% / 20% / 40% (Neg/Neu/Pos)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46489a4ea_1_44"/>
          <p:cNvSpPr/>
          <p:nvPr/>
        </p:nvSpPr>
        <p:spPr>
          <a:xfrm>
            <a:off x="1426239" y="2158000"/>
            <a:ext cx="1951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lang="en-US" sz="16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Text reviews clean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46489a4ea_1_44"/>
          <p:cNvSpPr/>
          <p:nvPr/>
        </p:nvSpPr>
        <p:spPr>
          <a:xfrm>
            <a:off x="5463488" y="2158075"/>
            <a:ext cx="1518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lang="en-US" sz="16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Standardise &amp; Balance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46489a4ea_1_44"/>
          <p:cNvSpPr/>
          <p:nvPr/>
        </p:nvSpPr>
        <p:spPr>
          <a:xfrm>
            <a:off x="9138975" y="2158075"/>
            <a:ext cx="1518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lang="en-US" sz="16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Map to Sentiment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46489a4ea_1_44"/>
          <p:cNvSpPr/>
          <p:nvPr/>
        </p:nvSpPr>
        <p:spPr>
          <a:xfrm>
            <a:off x="658375" y="4475802"/>
            <a:ext cx="10881300" cy="1826100"/>
          </a:xfrm>
          <a:prstGeom prst="roundRect">
            <a:avLst>
              <a:gd name="adj" fmla="val 9000"/>
            </a:avLst>
          </a:prstGeom>
          <a:solidFill>
            <a:srgbClr val="0D3B3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46489a4ea_1_44"/>
          <p:cNvSpPr txBox="1"/>
          <p:nvPr/>
        </p:nvSpPr>
        <p:spPr>
          <a:xfrm>
            <a:off x="1149391" y="4590288"/>
            <a:ext cx="35661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THE MERGED DATASET</a:t>
            </a:r>
            <a:endParaRPr sz="1800"/>
          </a:p>
        </p:txBody>
      </p:sp>
      <p:sp>
        <p:nvSpPr>
          <p:cNvPr id="137" name="Google Shape;137;g3f46489a4ea_1_44"/>
          <p:cNvSpPr txBox="1"/>
          <p:nvPr/>
        </p:nvSpPr>
        <p:spPr>
          <a:xfrm>
            <a:off x="1149391" y="4820826"/>
            <a:ext cx="3566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175,000</a:t>
            </a:r>
            <a:r>
              <a:rPr lang="en-US" sz="1800" b="1" i="0" u="none" strike="noStrike" cap="none">
                <a:solidFill>
                  <a:srgbClr val="CBEFEA"/>
                </a:solidFill>
                <a:latin typeface="Cambria"/>
                <a:ea typeface="Cambria"/>
                <a:cs typeface="Cambria"/>
                <a:sym typeface="Cambria"/>
              </a:rPr>
              <a:t>  ×  10</a:t>
            </a:r>
            <a:endParaRPr/>
          </a:p>
        </p:txBody>
      </p:sp>
      <p:sp>
        <p:nvSpPr>
          <p:cNvPr id="138" name="Google Shape;138;g3f46489a4ea_1_44"/>
          <p:cNvSpPr txBox="1"/>
          <p:nvPr/>
        </p:nvSpPr>
        <p:spPr>
          <a:xfrm>
            <a:off x="1149391" y="5278026"/>
            <a:ext cx="3566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r>
              <a:rPr lang="en-US" sz="1000" b="0" i="1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 × features, one row per review</a:t>
            </a:r>
            <a:endParaRPr/>
          </a:p>
        </p:txBody>
      </p:sp>
      <p:sp>
        <p:nvSpPr>
          <p:cNvPr id="139" name="Google Shape;139;g3f46489a4ea_1_44"/>
          <p:cNvSpPr txBox="1"/>
          <p:nvPr/>
        </p:nvSpPr>
        <p:spPr>
          <a:xfrm>
            <a:off x="1149403" y="5505582"/>
            <a:ext cx="3703200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Features:</a:t>
            </a:r>
            <a:endParaRPr sz="1200" b="1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asin</a:t>
            </a:r>
            <a:r>
              <a:rPr lang="en-US" sz="1200" b="1" i="0" u="none" strike="noStrike" cap="none" dirty="0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 · rating · title · text </a:t>
            </a:r>
            <a:r>
              <a:rPr lang="en-US" sz="1200" i="0" u="none" strike="noStrike" cap="none" dirty="0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1200" i="0" u="none" strike="noStrike" cap="none" dirty="0" err="1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verified_purchase</a:t>
            </a:r>
            <a:r>
              <a:rPr lang="en-US" sz="1200" i="0" u="none" strike="noStrike" cap="none" dirty="0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200" i="0" u="none" strike="noStrike" cap="none" dirty="0" err="1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helpful_vote</a:t>
            </a:r>
            <a:r>
              <a:rPr lang="en-US" sz="1200" i="0" u="none" strike="noStrike" cap="none" dirty="0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200" i="0" u="none" strike="noStrike" cap="none" dirty="0" err="1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user_id</a:t>
            </a:r>
            <a:r>
              <a:rPr lang="en-US" sz="1200" i="0" u="none" strike="noStrike" cap="none" dirty="0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 · timestamp · </a:t>
            </a:r>
            <a:r>
              <a:rPr lang="en-US" sz="1200" i="0" u="none" strike="noStrike" cap="none" dirty="0" err="1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review_len_words</a:t>
            </a:r>
            <a:r>
              <a:rPr lang="en-US" sz="1200" i="0" u="none" strike="noStrike" cap="none" dirty="0">
                <a:solidFill>
                  <a:srgbClr val="D8F0EC"/>
                </a:solidFill>
                <a:latin typeface="Calibri"/>
                <a:ea typeface="Calibri"/>
                <a:cs typeface="Calibri"/>
                <a:sym typeface="Calibri"/>
              </a:rPr>
              <a:t> · sentiment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g3f46489a4ea_1_44"/>
          <p:cNvCxnSpPr/>
          <p:nvPr/>
        </p:nvCxnSpPr>
        <p:spPr>
          <a:xfrm>
            <a:off x="5210448" y="4617720"/>
            <a:ext cx="0" cy="1490400"/>
          </a:xfrm>
          <a:prstGeom prst="straightConnector1">
            <a:avLst/>
          </a:prstGeom>
          <a:noFill/>
          <a:ln w="12700" cap="flat" cmpd="sng">
            <a:solidFill>
              <a:srgbClr val="1E535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41" name="Google Shape;141;g3f46489a4ea_1_44"/>
          <p:cNvSpPr/>
          <p:nvPr/>
        </p:nvSpPr>
        <p:spPr>
          <a:xfrm>
            <a:off x="5561250" y="5080499"/>
            <a:ext cx="82800" cy="91500"/>
          </a:xfrm>
          <a:prstGeom prst="ellipse">
            <a:avLst/>
          </a:prstGeom>
          <a:solidFill>
            <a:srgbClr val="5EEAD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46489a4ea_1_44"/>
          <p:cNvSpPr txBox="1"/>
          <p:nvPr/>
        </p:nvSpPr>
        <p:spPr>
          <a:xfrm>
            <a:off x="5743505" y="5025636"/>
            <a:ext cx="538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/ Test Split — </a:t>
            </a:r>
            <a:r>
              <a:rPr lang="en-US" sz="1000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Stratified 80/20 split by sentiment: 140k train, 35k test, same balance in both.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46489a4ea_1_44"/>
          <p:cNvSpPr/>
          <p:nvPr/>
        </p:nvSpPr>
        <p:spPr>
          <a:xfrm>
            <a:off x="5561250" y="5452344"/>
            <a:ext cx="82800" cy="91500"/>
          </a:xfrm>
          <a:prstGeom prst="ellipse">
            <a:avLst/>
          </a:prstGeom>
          <a:solidFill>
            <a:srgbClr val="5EEAD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46489a4ea_1_44"/>
          <p:cNvSpPr txBox="1"/>
          <p:nvPr/>
        </p:nvSpPr>
        <p:spPr>
          <a:xfrm>
            <a:off x="5743505" y="5397480"/>
            <a:ext cx="5384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Classification — </a:t>
            </a:r>
            <a:r>
              <a:rPr lang="en-US" sz="1000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Clean text and balanced label feed straight into tokenisation, no further pre preparation is  needed.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15279-0242-B119-F9A8-296BA734D4E2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TASK 1 · PRODUCT CLUSTERING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From raw categories to meaningful groups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0080" y="146304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Hundreds of messy category strings were reduced to a handful of intuitive meta-categories. We compared a lexical baseline against a semantic embedding approach</a:t>
            </a:r>
            <a:r>
              <a:rPr lang="en-US" sz="15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both with K-Means (k = 4).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58368" y="2331720"/>
            <a:ext cx="53492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932688" y="2606040"/>
            <a:ext cx="566928" cy="566928"/>
          </a:xfrm>
          <a:prstGeom prst="ellipse">
            <a:avLst/>
          </a:prstGeom>
          <a:solidFill>
            <a:srgbClr val="14857F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89" y="27534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1737360" y="26517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mbria"/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TF-IDF + RAKE + “Manual Tweaking”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737360" y="319386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57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4857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005840" y="3566160"/>
            <a:ext cx="484632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Leveraged different inputs: </a:t>
            </a:r>
            <a:r>
              <a:rPr lang="en-US" sz="1400" b="1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 name, review and  category</a:t>
            </a:r>
            <a:endParaRPr lang="en-US" b="1" dirty="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Clusters on sparse word-frequency features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Groups by surface words, not meaning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199632" y="2331720"/>
            <a:ext cx="5349240" cy="3611880"/>
          </a:xfrm>
          <a:prstGeom prst="roundRect">
            <a:avLst>
              <a:gd name="adj" fmla="val 2278"/>
            </a:avLst>
          </a:prstGeom>
          <a:solidFill>
            <a:srgbClr val="ECFDF6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473952" y="2606040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1" name="Google Shape;211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1353" y="27534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7278624" y="26517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93B"/>
              </a:buClr>
              <a:buSzPts val="1850"/>
            </a:pPr>
            <a:r>
              <a:rPr lang="en-US" sz="185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TF+IDF</a:t>
            </a:r>
            <a:r>
              <a:rPr lang="en-US" sz="1850" b="1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+ PCA + </a:t>
            </a:r>
            <a:r>
              <a:rPr lang="en-US" sz="185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K-Means</a:t>
            </a:r>
            <a:r>
              <a:rPr lang="en-US" sz="1850" b="1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+ </a:t>
            </a:r>
            <a:r>
              <a:rPr lang="en-US" sz="1850" b="1" dirty="0" err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MiniLM</a:t>
            </a:r>
            <a:r>
              <a:rPr lang="en-US" sz="1850" b="1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Embeddings </a:t>
            </a:r>
            <a:endParaRPr sz="1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278624" y="313581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Selected ✓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547104" y="3566160"/>
            <a:ext cx="484632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90500" indent="-190500">
              <a:spcBef>
                <a:spcPts val="1000"/>
              </a:spcBef>
              <a:buClr>
                <a:srgbClr val="1E293B"/>
              </a:buClr>
              <a:buSzPts val="1400"/>
              <a:buFont typeface="Calibri"/>
              <a:buChar char="•"/>
            </a:pPr>
            <a:r>
              <a:rPr lang="en-US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Leveraged different inputs: </a:t>
            </a:r>
            <a:r>
              <a:rPr lang="en-US" b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 name and  category</a:t>
            </a:r>
            <a:endParaRPr lang="en-US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00" marR="0" lvl="0" indent="-1905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Sentence embeddings capture product meaning, not just shared keywords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00" marR="0" lvl="0" indent="-1905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Groups are tight and clearly distinct from each other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00" marR="0" lvl="0" indent="-1905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 visual separation, with categories named automatically via LLM</a:t>
            </a:r>
            <a:endParaRPr dirty="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B49344-B11C-15EC-E0C6-285F7502327F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TASK </a:t>
            </a:r>
            <a:r>
              <a:rPr lang="en-US" sz="1250" b="1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 b="1" i="0" u="none" strike="noStrike" cap="none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· RESULTS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Four meta-categories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58368" y="1572768"/>
            <a:ext cx="53492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914400" y="1828800"/>
            <a:ext cx="603504" cy="603504"/>
          </a:xfrm>
          <a:prstGeom prst="ellipse">
            <a:avLst/>
          </a:prstGeom>
          <a:solidFill>
            <a:srgbClr val="0F766E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11" y="198571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/>
          <p:nvPr/>
        </p:nvSpPr>
        <p:spPr>
          <a:xfrm>
            <a:off x="1709928" y="1792224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50"/>
              <a:buFont typeface="Cambria"/>
              <a:buNone/>
            </a:pPr>
            <a:r>
              <a:rPr lang="en-US" sz="155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Portable Touchscreen Computing Devices</a:t>
            </a:r>
            <a:endParaRPr sz="1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728216" y="2414016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15,717 reviews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728216" y="270662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iPad · Galaxy Tab · Fire Tablet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309360" y="1572768"/>
            <a:ext cx="53492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565392" y="1828800"/>
            <a:ext cx="603504" cy="603504"/>
          </a:xfrm>
          <a:prstGeom prst="ellipse">
            <a:avLst/>
          </a:prstGeom>
          <a:solidFill>
            <a:srgbClr val="14857F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22303" y="198571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/>
          <p:nvPr/>
        </p:nvSpPr>
        <p:spPr>
          <a:xfrm>
            <a:off x="7360920" y="1792224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Media Streaming Devices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379208" y="2414016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57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4857F"/>
                </a:solidFill>
                <a:latin typeface="Calibri"/>
                <a:ea typeface="Calibri"/>
                <a:cs typeface="Calibri"/>
                <a:sym typeface="Calibri"/>
              </a:rPr>
              <a:t>5,070 reviews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379208" y="270662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1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Roku · Fire TV · Apple TV · Chromecast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58368" y="3401568"/>
            <a:ext cx="53492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914400" y="3657600"/>
            <a:ext cx="603504" cy="603504"/>
          </a:xfrm>
          <a:prstGeom prst="ellipse">
            <a:avLst/>
          </a:prstGeom>
          <a:solidFill>
            <a:srgbClr val="0C5F5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6" name="Google Shape;236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1311" y="381451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1709928" y="3621024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Digital Reading Devices &amp; Accessories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1728216" y="4242816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5F5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C5F5A"/>
                </a:solidFill>
                <a:latin typeface="Calibri"/>
                <a:ea typeface="Calibri"/>
                <a:cs typeface="Calibri"/>
                <a:sym typeface="Calibri"/>
              </a:rPr>
              <a:t>6,237 reviews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728216" y="453542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Kindle · Nook · Kobo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309360" y="3401568"/>
            <a:ext cx="53492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6565392" y="3657600"/>
            <a:ext cx="603504" cy="603504"/>
          </a:xfrm>
          <a:prstGeom prst="ellipse">
            <a:avLst/>
          </a:prstGeom>
          <a:solidFill>
            <a:srgbClr val="0D3B3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2303" y="381451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/>
          <p:nvPr/>
        </p:nvSpPr>
        <p:spPr>
          <a:xfrm>
            <a:off x="7360920" y="3621024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Home Automation Devices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379208" y="4242816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7,635 reviews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379208" y="453542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Echo · Google Home · Hue · Nest · Ring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58368" y="525780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0D3B3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960120" y="5257800"/>
            <a:ext cx="10332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000"/>
              <a:buFont typeface="Calibri"/>
              <a:buNone/>
            </a:pPr>
            <a:r>
              <a:rPr lang="en-US" sz="1350" dirty="0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350" b="0" i="0" u="none" strike="noStrike" cap="none" dirty="0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emantically coherent clusters: streaming sticks don't leak into e-readers. Each becomes a unit the </a:t>
            </a:r>
            <a:r>
              <a:rPr lang="en-US" sz="1350" b="0" i="0" u="none" strike="noStrike" cap="none" dirty="0" err="1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summariser</a:t>
            </a:r>
            <a:r>
              <a:rPr lang="en-US" sz="1350" b="0" i="0" u="none" strike="noStrike" cap="none" dirty="0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 writes about and the app lets users browse.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78EE6C-5091-8510-9644-EF9B6774F6A9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658375" y="5257800"/>
            <a:ext cx="11164800" cy="841200"/>
          </a:xfrm>
          <a:prstGeom prst="roundRect">
            <a:avLst>
              <a:gd name="adj" fmla="val 9783"/>
            </a:avLst>
          </a:prstGeom>
          <a:solidFill>
            <a:srgbClr val="0D3B3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TASK 2 · REVIEW CLASSIFICATION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Fine-tuning transformers on sentiment</a:t>
            </a:r>
            <a:endParaRPr sz="3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40080" y="146304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fine-tuned three pretrained transformer models on the balanced 140k training set and evaluated them on the same held-out 35k test set</a:t>
            </a:r>
            <a:r>
              <a:rPr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so</a:t>
            </a:r>
            <a:r>
              <a:rPr lang="en-US" sz="15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no model touched the test data during training.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58368" y="23774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932688" y="2517081"/>
            <a:ext cx="603600" cy="603600"/>
          </a:xfrm>
          <a:prstGeom prst="ellipse">
            <a:avLst/>
          </a:prstGeom>
          <a:solidFill>
            <a:srgbClr val="14857F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599" y="2673992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>
            <a:off x="1709928" y="2535369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57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14857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709928" y="2791401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DistilBERT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932688" y="3461123"/>
            <a:ext cx="2971800" cy="0"/>
          </a:xfrm>
          <a:prstGeom prst="straightConnector1">
            <a:avLst/>
          </a:prstGeom>
          <a:noFill/>
          <a:ln w="12700" cap="flat" cmpd="sng">
            <a:solidFill>
              <a:srgbClr val="D6E3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p5"/>
          <p:cNvSpPr/>
          <p:nvPr/>
        </p:nvSpPr>
        <p:spPr>
          <a:xfrm>
            <a:off x="950976" y="3642065"/>
            <a:ext cx="29718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distilled, </a:t>
            </a:r>
            <a:r>
              <a:rPr lang="en-US" sz="1350" b="1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40% smaller version of BERT, </a:t>
            </a:r>
            <a:r>
              <a:rPr lang="en-US" sz="13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which is fast and inexpensive to fine-tune, making it a practical, low-cost starting point before testing larger models</a:t>
            </a:r>
            <a:endParaRPr sz="1350" dirty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480560" y="23774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754880" y="2517081"/>
            <a:ext cx="603600" cy="603600"/>
          </a:xfrm>
          <a:prstGeom prst="ellipse">
            <a:avLst/>
          </a:prstGeom>
          <a:solidFill>
            <a:srgbClr val="0F766E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1791" y="2673992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/>
          <p:nvPr/>
        </p:nvSpPr>
        <p:spPr>
          <a:xfrm>
            <a:off x="5532120" y="2791401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RoBERTa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4754880" y="3461123"/>
            <a:ext cx="2971800" cy="0"/>
          </a:xfrm>
          <a:prstGeom prst="straightConnector1">
            <a:avLst/>
          </a:prstGeom>
          <a:noFill/>
          <a:ln w="12700" cap="flat" cmpd="sng">
            <a:solidFill>
              <a:srgbClr val="D6E3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5"/>
          <p:cNvSpPr/>
          <p:nvPr/>
        </p:nvSpPr>
        <p:spPr>
          <a:xfrm>
            <a:off x="4773168" y="3731296"/>
            <a:ext cx="29718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1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more robustly pretrained encoder than BERT</a:t>
            </a:r>
            <a:r>
              <a:rPr lang="en-US" sz="13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designed to better capture nuanced and mixed sentiment in longer, less clear-cut reviews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endParaRPr sz="1350" dirty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8302752" y="23774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ECFDF6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8577072" y="2517081"/>
            <a:ext cx="603600" cy="603600"/>
          </a:xfrm>
          <a:prstGeom prst="ellipse">
            <a:avLst/>
          </a:prstGeom>
          <a:solidFill>
            <a:srgbClr val="0D3B3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" name="Google Shape;170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33983" y="2673992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9354312" y="2535369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SELECTED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354312" y="2791401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900" b="1" i="0" u="none" strike="noStrike" cap="none" dirty="0" err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RoBERTa</a:t>
            </a:r>
            <a:r>
              <a:rPr lang="en-US" sz="190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+ Class Weights</a:t>
            </a:r>
            <a:endParaRPr sz="1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5"/>
          <p:cNvCxnSpPr/>
          <p:nvPr/>
        </p:nvCxnSpPr>
        <p:spPr>
          <a:xfrm>
            <a:off x="8577072" y="3461123"/>
            <a:ext cx="2971800" cy="0"/>
          </a:xfrm>
          <a:prstGeom prst="straightConnector1">
            <a:avLst/>
          </a:prstGeom>
          <a:noFill/>
          <a:ln w="12700" cap="flat" cmpd="sng">
            <a:solidFill>
              <a:srgbClr val="D6E3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5"/>
          <p:cNvSpPr/>
          <p:nvPr/>
        </p:nvSpPr>
        <p:spPr>
          <a:xfrm>
            <a:off x="8595360" y="3858768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same encoder, but with the training loss adjusted to </a:t>
            </a:r>
            <a:r>
              <a:rPr lang="en-US" sz="1350" b="1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penalise</a:t>
            </a:r>
            <a:r>
              <a:rPr lang="en-US" sz="1350" b="1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mistakes on Neutral more heavily</a:t>
            </a:r>
            <a:r>
              <a:rPr lang="en-US" sz="13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which directly targets the sentiment class every model finds hardest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endParaRPr sz="1350" dirty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932700" y="5436261"/>
            <a:ext cx="10607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400"/>
              <a:buFont typeface="Calibri"/>
              <a:buNone/>
            </a:pPr>
            <a:r>
              <a:rPr lang="en-US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class weights?  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 on balanced data, plain training still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favours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the classes that are easiest to separate. Neutral reviews mix real praise and real complaint, so they resemble both Positive and Negative, so a model can reach low loss while rarely predicting Neutral at all. Weighting the loss makes Neutral mistakes costlier, pushing the model to actually learn where Neutral sits.</a:t>
            </a:r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400"/>
              <a:buFont typeface="Calibri"/>
              <a:buNone/>
            </a:pPr>
            <a:endParaRPr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A91669-7B66-C3E0-B0AE-C77204E60D75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4dd4078f7_1_2"/>
          <p:cNvSpPr/>
          <p:nvPr/>
        </p:nvSpPr>
        <p:spPr>
          <a:xfrm>
            <a:off x="640080" y="384048"/>
            <a:ext cx="10881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TASK 2 · RESULTS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4dd4078f7_1_2"/>
          <p:cNvSpPr/>
          <p:nvPr/>
        </p:nvSpPr>
        <p:spPr>
          <a:xfrm>
            <a:off x="640080" y="658368"/>
            <a:ext cx="10881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The accuracy–balance trade-off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g3f4dd4078f7_1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702178"/>
            <a:ext cx="64008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4dd4078f7_1_2"/>
          <p:cNvSpPr/>
          <p:nvPr/>
        </p:nvSpPr>
        <p:spPr>
          <a:xfrm>
            <a:off x="7371458" y="1793618"/>
            <a:ext cx="4270200" cy="1965900"/>
          </a:xfrm>
          <a:prstGeom prst="roundRect">
            <a:avLst>
              <a:gd name="adj" fmla="val 4186"/>
            </a:avLst>
          </a:prstGeom>
          <a:solidFill>
            <a:srgbClr val="ECFDF6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4dd4078f7_1_2"/>
          <p:cNvSpPr/>
          <p:nvPr/>
        </p:nvSpPr>
        <p:spPr>
          <a:xfrm>
            <a:off x="7645778" y="1989517"/>
            <a:ext cx="530400" cy="530400"/>
          </a:xfrm>
          <a:prstGeom prst="ellipse">
            <a:avLst/>
          </a:prstGeom>
          <a:solidFill>
            <a:srgbClr val="16A34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f4dd4078f7_1_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83670" y="2127409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f4dd4078f7_1_2"/>
          <p:cNvSpPr/>
          <p:nvPr/>
        </p:nvSpPr>
        <p:spPr>
          <a:xfrm>
            <a:off x="8377298" y="200780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Selected: RoBERTa + Weights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4dd4078f7_1_2"/>
          <p:cNvSpPr/>
          <p:nvPr/>
        </p:nvSpPr>
        <p:spPr>
          <a:xfrm>
            <a:off x="7691498" y="2616578"/>
            <a:ext cx="37032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Accuracy 77%  ·  Neutral F1 54%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small step down on accuracy, but Neutral recall jumps from 47% to 54%. A worthwhile trade for balance across all three classes.</a:t>
            </a:r>
            <a:endParaRPr sz="1300" b="1">
              <a:solidFill>
                <a:srgbClr val="0D3B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4dd4078f7_1_2"/>
          <p:cNvSpPr/>
          <p:nvPr/>
        </p:nvSpPr>
        <p:spPr>
          <a:xfrm>
            <a:off x="7371458" y="3942458"/>
            <a:ext cx="4270200" cy="2103000"/>
          </a:xfrm>
          <a:prstGeom prst="roundRect">
            <a:avLst>
              <a:gd name="adj" fmla="val 3913"/>
            </a:avLst>
          </a:prstGeom>
          <a:solidFill>
            <a:srgbClr val="0D3B3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4dd4078f7_1_2"/>
          <p:cNvSpPr/>
          <p:nvPr/>
        </p:nvSpPr>
        <p:spPr>
          <a:xfrm>
            <a:off x="7645778" y="4189346"/>
            <a:ext cx="530400" cy="53040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f4dd4078f7_1_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83670" y="4327238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f4dd4078f7_1_2"/>
          <p:cNvSpPr/>
          <p:nvPr/>
        </p:nvSpPr>
        <p:spPr>
          <a:xfrm>
            <a:off x="8377298" y="4207634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Neutral ceiling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4dd4078f7_1_2"/>
          <p:cNvSpPr/>
          <p:nvPr/>
        </p:nvSpPr>
        <p:spPr>
          <a:xfrm>
            <a:off x="7691498" y="4765418"/>
            <a:ext cx="370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BEFE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3★ reviews genuinely mix praise and complaint, so they overlap both extremes. Most errors are Neutral leaking into Positive/Negati</a:t>
            </a:r>
            <a:r>
              <a:rPr lang="en-US" sz="1250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ve. So, it is</a:t>
            </a:r>
            <a:r>
              <a:rPr lang="en-US" sz="1250" b="0" i="0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 a property of the data, not one model.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4dd4078f7_1_2"/>
          <p:cNvSpPr/>
          <p:nvPr/>
        </p:nvSpPr>
        <p:spPr>
          <a:xfrm>
            <a:off x="640075" y="1296523"/>
            <a:ext cx="111894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After e</a:t>
            </a:r>
            <a:r>
              <a:rPr lang="en-US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valuated on 35,000 held-out reviews, the 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results All models were evaluated on the same 35,000 held-out reviews, held back entirely from training.</a:t>
            </a:r>
            <a:r>
              <a:rPr lang="en-US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7140AF-5E49-3B06-2135-2495EAFECBA3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TASK 3 · GENERATIVE SUMMARISATION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Map-reduce over thousands of reviews</a:t>
            </a:r>
            <a:endParaRPr sz="3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40080" y="1437546"/>
            <a:ext cx="10881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lang="en-US" sz="15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cluster can hold 15,000+ reviews, which is far more text than a single LLM call can process. A map-reduce pipeline over OpenAI splits the reviews into chunks, extracts findings from each, and merges them into one recommendation article per category.</a:t>
            </a:r>
            <a:endParaRPr sz="1500" dirty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58368" y="233172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1591056" y="2606040"/>
            <a:ext cx="621792" cy="621792"/>
          </a:xfrm>
          <a:prstGeom prst="ellipse">
            <a:avLst/>
          </a:prstGeom>
          <a:solidFill>
            <a:srgbClr val="14857F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8" name="Google Shape;258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722" y="276770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/>
          <p:nvPr/>
        </p:nvSpPr>
        <p:spPr>
          <a:xfrm>
            <a:off x="658368" y="3383280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900" b="1" i="0" u="none" strike="noStrike" cap="none" dirty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Chunk</a:t>
            </a:r>
            <a:endParaRPr sz="1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859536" y="3813048"/>
            <a:ext cx="208483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Split each cluster into shuffled 1,000</a:t>
            </a:r>
            <a:r>
              <a:rPr lang="en-US" sz="12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review chunks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163824" y="3200400"/>
            <a:ext cx="3840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529584" y="233172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4462272" y="2606040"/>
            <a:ext cx="621792" cy="621792"/>
          </a:xfrm>
          <a:prstGeom prst="ellipse">
            <a:avLst/>
          </a:prstGeom>
          <a:solidFill>
            <a:srgbClr val="0F766E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" name="Google Shape;264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3938" y="276770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9"/>
          <p:cNvSpPr/>
          <p:nvPr/>
        </p:nvSpPr>
        <p:spPr>
          <a:xfrm>
            <a:off x="3529584" y="3383280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Map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730752" y="3813048"/>
            <a:ext cx="208483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chunk → </a:t>
            </a:r>
            <a:r>
              <a:rPr lang="en-US" sz="12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2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rompt </a:t>
            </a:r>
            <a:r>
              <a:rPr lang="en-US" sz="12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structures</a:t>
            </a:r>
            <a:r>
              <a:rPr lang="en-US" sz="12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partial findings </a:t>
            </a:r>
            <a:r>
              <a:rPr lang="en-US" sz="125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(top product, complaints per product, worst product)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035040" y="3200400"/>
            <a:ext cx="3840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400800" y="233172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7333488" y="2606040"/>
            <a:ext cx="621792" cy="621792"/>
          </a:xfrm>
          <a:prstGeom prst="ellipse">
            <a:avLst/>
          </a:prstGeom>
          <a:solidFill>
            <a:srgbClr val="0C5F5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0" name="Google Shape;270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95154" y="276770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9"/>
          <p:cNvSpPr/>
          <p:nvPr/>
        </p:nvSpPr>
        <p:spPr>
          <a:xfrm>
            <a:off x="6400800" y="3383280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Reduce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601968" y="3813048"/>
            <a:ext cx="208483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Merge all partial findings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→ Prompt to synthesize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 Markdown 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blog article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906256" y="3200400"/>
            <a:ext cx="3840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9272016" y="233172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10204704" y="2606040"/>
            <a:ext cx="621792" cy="621792"/>
          </a:xfrm>
          <a:prstGeom prst="ellipse">
            <a:avLst/>
          </a:prstGeom>
          <a:solidFill>
            <a:srgbClr val="0D3B3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6" name="Google Shape;276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66370" y="2767706"/>
            <a:ext cx="298460" cy="29846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/>
          <p:nvPr/>
        </p:nvSpPr>
        <p:spPr>
          <a:xfrm>
            <a:off x="9272016" y="3383280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Save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9473184" y="3813048"/>
            <a:ext cx="208483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0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Checkpoint per cluster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Articles are saved to JSON after each cluster is 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synthesized</a:t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58368" y="5029200"/>
            <a:ext cx="10881360" cy="1078992"/>
          </a:xfrm>
          <a:prstGeom prst="roundRect">
            <a:avLst>
              <a:gd name="adj" fmla="val 7627"/>
            </a:avLst>
          </a:prstGeom>
          <a:solidFill>
            <a:srgbClr val="ECFDF6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960120" y="528523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1" name="Google Shape;281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7521" y="5432633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9"/>
          <p:cNvSpPr/>
          <p:nvPr/>
        </p:nvSpPr>
        <p:spPr>
          <a:xfrm>
            <a:off x="1737360" y="5029200"/>
            <a:ext cx="950976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Every article delivers what the brief asked for:  </a:t>
            </a: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 3 products &amp; their differences · top complaints per product · the worst product to avoid.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E41438-E608-AB37-623E-830F6781B4FD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TASK 3 · EXAMPLE OUTPUT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40080" y="658368"/>
            <a:ext cx="10881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 recommendation article, auto-generated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555375" y="1600200"/>
            <a:ext cx="6660900" cy="448050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4555375" y="1600200"/>
            <a:ext cx="6660900" cy="594300"/>
          </a:xfrm>
          <a:prstGeom prst="roundRect">
            <a:avLst>
              <a:gd name="adj" fmla="val 9474"/>
            </a:avLst>
          </a:prstGeom>
          <a:solidFill>
            <a:srgbClr val="0D3B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2390604" y="1783055"/>
            <a:ext cx="502800" cy="502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3" name="Google Shape;29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1363" y="1913814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0"/>
          <p:cNvSpPr/>
          <p:nvPr/>
        </p:nvSpPr>
        <p:spPr>
          <a:xfrm>
            <a:off x="4862392" y="1602098"/>
            <a:ext cx="6362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Portable Touchscreen Computing Devices (cluster 0)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857133" y="2311046"/>
            <a:ext cx="6172200" cy="3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“Fire tablets are a popular choice for families and casual users looking for an affordable, versatile device for reading, browsing and light gaming…”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Clr>
                <a:srgbClr val="0D3B3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Top 3 Products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Fire Tablet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Exceptional value; user-friendly interface for basic tasks.</a:t>
            </a:r>
            <a:endParaRPr sz="125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D3B3A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Top complaint</a:t>
            </a:r>
            <a:endParaRPr sz="12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Kindle Fire Tablet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Limited access to apps outside the Amazon ecosystem; Ads that cannot be removed without payment.</a:t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Product to Avoid</a:t>
            </a:r>
            <a:endParaRPr sz="1500" b="1">
              <a:solidFill>
                <a:srgbClr val="0D3B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Fire Kids Edition Tablet Case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Fire Kids Edition Tablet Case has received significant dissatisfaction from customers. Many express frustration over its slow performance, unresponsive touch screen, and difficulty……</a:t>
            </a:r>
            <a:endParaRPr sz="17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endParaRPr sz="12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82766" y="1600200"/>
            <a:ext cx="3027600" cy="4480500"/>
          </a:xfrm>
          <a:prstGeom prst="roundRect">
            <a:avLst>
              <a:gd name="adj" fmla="val 2103"/>
            </a:avLst>
          </a:prstGeom>
          <a:solidFill>
            <a:srgbClr val="ECFDF6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857075" y="1828800"/>
            <a:ext cx="3383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Each article contains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857075" y="2514600"/>
            <a:ext cx="512100" cy="512100"/>
          </a:xfrm>
          <a:prstGeom prst="ellipse">
            <a:avLst/>
          </a:prstGeom>
          <a:solidFill>
            <a:srgbClr val="16A34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212" y="264773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0"/>
          <p:cNvSpPr/>
          <p:nvPr/>
        </p:nvSpPr>
        <p:spPr>
          <a:xfrm>
            <a:off x="1542875" y="2496312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 3 products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1542875" y="2807208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 key differences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857075" y="3447288"/>
            <a:ext cx="512100" cy="51210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3" name="Google Shape;303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212" y="358042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/>
          <p:nvPr/>
        </p:nvSpPr>
        <p:spPr>
          <a:xfrm>
            <a:off x="1542875" y="3429000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 complaints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542875" y="3739896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 each product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857075" y="4379976"/>
            <a:ext cx="512100" cy="51210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0212" y="451311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"/>
          <p:cNvSpPr/>
          <p:nvPr/>
        </p:nvSpPr>
        <p:spPr>
          <a:xfrm>
            <a:off x="1542875" y="4361688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Worst product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542875" y="4672584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and why to avoid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0"/>
          <p:cNvCxnSpPr/>
          <p:nvPr/>
        </p:nvCxnSpPr>
        <p:spPr>
          <a:xfrm rot="10800000" flipH="1">
            <a:off x="857075" y="5205570"/>
            <a:ext cx="2457300" cy="19500"/>
          </a:xfrm>
          <a:prstGeom prst="straightConnector1">
            <a:avLst/>
          </a:prstGeom>
          <a:noFill/>
          <a:ln w="12700" cap="flat" cmpd="sng">
            <a:solidFill>
              <a:srgbClr val="CFE7E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1" name="Google Shape;311;p10"/>
          <p:cNvSpPr/>
          <p:nvPr/>
        </p:nvSpPr>
        <p:spPr>
          <a:xfrm>
            <a:off x="857066" y="5312650"/>
            <a:ext cx="25623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~3,000 chars · grounded in real reviews · Markdown, ready to publish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FC77B-D8C6-B072-5C86-BF1B31DAD62E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RESULTS &amp; </a:t>
            </a:r>
            <a:r>
              <a:rPr lang="en-US" sz="1250" b="1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What worked, and wh</a:t>
            </a:r>
            <a:r>
              <a:rPr lang="en-US" sz="31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ere the challenges remain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58368" y="16459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ECFDF6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932688" y="192024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" name="Google Shape;321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89" y="20676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2"/>
          <p:cNvSpPr/>
          <p:nvPr/>
        </p:nvSpPr>
        <p:spPr>
          <a:xfrm>
            <a:off x="1737360" y="19659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mbria"/>
              <a:buNone/>
            </a:pPr>
            <a:r>
              <a:rPr lang="en-US" sz="20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Results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1051560" y="2606040"/>
            <a:ext cx="48006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90500" marR="0" lvl="0" indent="-190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classifier reliably distinguishes all three sentiments, with 77% accuracy and Neutral F1 at 54%.</a:t>
            </a:r>
            <a:endParaRPr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00" marR="0" lvl="0" indent="-190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 clusters are clean &amp; interpreta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00" marR="0" lvl="0" indent="-190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Map-reduce summaries are coherent, on-brief and grounded in reviews.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00" marR="0" lvl="0" indent="-190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three tasks are delivered in one live shareable app.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199632" y="16459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6473952" y="192024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6" name="Google Shape;326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1353" y="20676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/>
          <p:nvPr/>
        </p:nvSpPr>
        <p:spPr>
          <a:xfrm>
            <a:off x="7278624" y="19659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Limitations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583680" y="2606040"/>
            <a:ext cx="48006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90500" marR="0" lvl="0" indent="-1968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Secondary dataset lacks product name</a:t>
            </a:r>
            <a:r>
              <a:rPr lang="en-US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brand &amp; detailed </a:t>
            </a: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</a:t>
            </a:r>
            <a:r>
              <a:rPr lang="en-US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limi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ted</a:t>
            </a:r>
            <a:r>
              <a:rPr lang="en-US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deeper analysis to the primary set.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00" marR="0" lvl="0" indent="-1968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Balancing was done at rating level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not sentiment level, so Neutral is still under-represented.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00" marR="0" lvl="0" indent="-1968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Neutral reviews are intrinsically ambiguous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since collapsing mixed praise and complaint into one label erases that nuance.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00" marR="0" lvl="0" indent="-1968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Summaries are generative and grounded in reviews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not fact-checked against product specs.</a:t>
            </a:r>
          </a:p>
          <a:p>
            <a:pPr marL="190500" marR="0" lvl="0" indent="-1968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analysis overview was built using an API to OpenAI. 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Economics and processing time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might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 as potential limitations.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4FB990-846C-DB25-9403-CEFB4FDC394C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Where we</a:t>
            </a:r>
            <a:r>
              <a:rPr lang="en-US" sz="3100" b="1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woul</a:t>
            </a: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d take this next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58368" y="187452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932688" y="2075688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8" name="Google Shape;338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89" y="22230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3"/>
          <p:cNvSpPr/>
          <p:nvPr/>
        </p:nvSpPr>
        <p:spPr>
          <a:xfrm>
            <a:off x="1783080" y="2002536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Balance at sentiment level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989320" y="2002536"/>
            <a:ext cx="5394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Gather more genuine Neutral data, or reframe Neutral as an ordinal target.</a:t>
            </a:r>
            <a:endParaRPr sz="13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58368" y="3054096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932688" y="3255264"/>
            <a:ext cx="566928" cy="566928"/>
          </a:xfrm>
          <a:prstGeom prst="ellipse">
            <a:avLst/>
          </a:prstGeom>
          <a:solidFill>
            <a:srgbClr val="14857F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3" name="Google Shape;343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89" y="3402665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3"/>
          <p:cNvSpPr/>
          <p:nvPr/>
        </p:nvSpPr>
        <p:spPr>
          <a:xfrm>
            <a:off x="1783080" y="3182112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Reduce Neutral confusion directly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5989320" y="3182112"/>
            <a:ext cx="5394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Explore other models</a:t>
            </a:r>
            <a:r>
              <a:rPr lang="en-US" sz="13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13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techniques aimed at the Neutral-vs-</a:t>
            </a:r>
            <a:r>
              <a:rPr lang="en-US" sz="13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Pos/Neg</a:t>
            </a:r>
            <a:r>
              <a:rPr lang="en-US" sz="13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confusion itself.</a:t>
            </a:r>
            <a:endParaRPr sz="13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58368" y="4233672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932688" y="4434840"/>
            <a:ext cx="566928" cy="566928"/>
          </a:xfrm>
          <a:prstGeom prst="ellipse">
            <a:avLst/>
          </a:prstGeom>
          <a:solidFill>
            <a:srgbClr val="0C5F5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8" name="Google Shape;348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0089" y="45822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/>
          <p:nvPr/>
        </p:nvSpPr>
        <p:spPr>
          <a:xfrm>
            <a:off x="1783080" y="4361688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None/>
            </a:pPr>
            <a:r>
              <a:rPr lang="en-US" sz="1650" b="1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Hierarchical / higher-k clustering</a:t>
            </a:r>
            <a:endParaRPr sz="16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989320" y="4361688"/>
            <a:ext cx="5394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Surface sub-categories (accessories vs. devices) under the top-level 4 categories.</a:t>
            </a:r>
            <a:endParaRPr sz="1300" i="0" u="none" strike="noStrike" cap="none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658368" y="5413248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932688" y="5614416"/>
            <a:ext cx="566928" cy="566928"/>
          </a:xfrm>
          <a:prstGeom prst="ellipse">
            <a:avLst/>
          </a:prstGeom>
          <a:solidFill>
            <a:srgbClr val="0D3B3A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3" name="Google Shape;353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0089" y="57618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3"/>
          <p:cNvSpPr/>
          <p:nvPr/>
        </p:nvSpPr>
        <p:spPr>
          <a:xfrm>
            <a:off x="1783080" y="5541264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None/>
            </a:pPr>
            <a:r>
              <a:rPr lang="en-US" sz="1650" b="1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Fine-tune the model</a:t>
            </a:r>
            <a:endParaRPr sz="16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989320" y="5541264"/>
            <a:ext cx="5394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Train the model with different product categories, instead of relying on the same product categories, along with selecting different transformers on sentiment.</a:t>
            </a:r>
            <a:endParaRPr sz="1300" i="0" u="none" strike="noStrike" cap="none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0E3E98-38D0-5D28-6AEB-EA5B5D81F9F5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mbria"/>
              <a:buNone/>
            </a:pPr>
            <a:r>
              <a:rPr lang="en-US" sz="31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Everything in one interactive app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three components are served together in a Gradio web app with a shareable public URL — usable by non-technical teams with no notebook required.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4C4BE5-0774-5BBD-C962-CA209B1C70BA}"/>
              </a:ext>
            </a:extLst>
          </p:cNvPr>
          <p:cNvGrpSpPr/>
          <p:nvPr/>
        </p:nvGrpSpPr>
        <p:grpSpPr>
          <a:xfrm>
            <a:off x="658368" y="2286000"/>
            <a:ext cx="3520440" cy="3063240"/>
            <a:chOff x="4480560" y="2286000"/>
            <a:chExt cx="3520440" cy="3063240"/>
          </a:xfrm>
        </p:grpSpPr>
        <p:sp>
          <p:nvSpPr>
            <p:cNvPr id="372" name="Google Shape;372;p11"/>
            <p:cNvSpPr/>
            <p:nvPr/>
          </p:nvSpPr>
          <p:spPr>
            <a:xfrm>
              <a:off x="4480560" y="2286000"/>
              <a:ext cx="3520440" cy="3063240"/>
            </a:xfrm>
            <a:prstGeom prst="roundRect">
              <a:avLst>
                <a:gd name="adj" fmla="val 2687"/>
              </a:avLst>
            </a:prstGeom>
            <a:solidFill>
              <a:srgbClr val="FFFFFF"/>
            </a:solidFill>
            <a:ln w="127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38100" dir="5400000" algn="bl" rotWithShape="0">
                <a:srgbClr val="0B2C2B">
                  <a:alpha val="1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4480560" y="2286000"/>
              <a:ext cx="3520440" cy="1097280"/>
            </a:xfrm>
            <a:prstGeom prst="roundRect">
              <a:avLst>
                <a:gd name="adj" fmla="val 7500"/>
              </a:avLst>
            </a:prstGeom>
            <a:solidFill>
              <a:srgbClr val="148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4480560" y="2926080"/>
              <a:ext cx="3520440" cy="457200"/>
            </a:xfrm>
            <a:prstGeom prst="rect">
              <a:avLst/>
            </a:prstGeom>
            <a:solidFill>
              <a:srgbClr val="148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5911596" y="2523744"/>
              <a:ext cx="658368" cy="658368"/>
            </a:xfrm>
            <a:prstGeom prst="ellipse">
              <a:avLst/>
            </a:prstGeom>
            <a:solidFill>
              <a:srgbClr val="0A2E2D"/>
            </a:solidFill>
            <a:ln>
              <a:noFill/>
            </a:ln>
            <a:effectLst>
              <a:outerShdw blurRad="114300" dist="38100" dir="5400000" algn="bl" rotWithShape="0">
                <a:srgbClr val="0B2C2B">
                  <a:alpha val="1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6" name="Google Shape;376;p11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082772" y="2694920"/>
              <a:ext cx="316017" cy="3160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1"/>
            <p:cNvSpPr/>
            <p:nvPr/>
          </p:nvSpPr>
          <p:spPr>
            <a:xfrm>
              <a:off x="4480560" y="3520440"/>
              <a:ext cx="3520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4857F"/>
                </a:buClr>
                <a:buSzPts val="1050"/>
                <a:buFont typeface="Calibri"/>
                <a:buNone/>
              </a:pPr>
              <a:r>
                <a:rPr lang="en-US" sz="1050" b="1" i="0" u="none" strike="noStrike" cap="none" dirty="0">
                  <a:solidFill>
                    <a:srgbClr val="14857F"/>
                  </a:solidFill>
                  <a:latin typeface="Calibri"/>
                  <a:ea typeface="Calibri"/>
                  <a:cs typeface="Calibri"/>
                  <a:sym typeface="Calibri"/>
                </a:rPr>
                <a:t>TAB 1</a:t>
              </a:r>
              <a:endParaRPr sz="10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4663440" y="3767328"/>
              <a:ext cx="315468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750"/>
                <a:buFont typeface="Cambria"/>
                <a:buNone/>
              </a:pPr>
              <a:r>
                <a:rPr lang="en-US" sz="1750" b="1">
                  <a:solidFill>
                    <a:srgbClr val="1E293B"/>
                  </a:solidFill>
                  <a:latin typeface="Cambria"/>
                  <a:ea typeface="Cambria"/>
                  <a:cs typeface="Cambria"/>
                  <a:sym typeface="Cambria"/>
                </a:rPr>
                <a:t>Product </a:t>
              </a:r>
              <a:r>
                <a:rPr lang="en-US" sz="1750" b="1" i="0" u="none" strike="noStrike" cap="none">
                  <a:solidFill>
                    <a:srgbClr val="1E293B"/>
                  </a:solidFill>
                  <a:latin typeface="Cambria"/>
                  <a:ea typeface="Cambria"/>
                  <a:cs typeface="Cambria"/>
                  <a:sym typeface="Cambria"/>
                </a:rPr>
                <a:t>Category Browser</a:t>
              </a:r>
              <a:endParaRPr sz="1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1"/>
            <p:cNvSpPr/>
            <p:nvPr/>
          </p:nvSpPr>
          <p:spPr>
            <a:xfrm>
              <a:off x="4754880" y="4480560"/>
              <a:ext cx="2971800" cy="777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Pick a cluster → see its products and a computed sentiment breakdown chart.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131CB91-B232-2F58-925E-49A2F062BCE2}"/>
              </a:ext>
            </a:extLst>
          </p:cNvPr>
          <p:cNvGrpSpPr/>
          <p:nvPr/>
        </p:nvGrpSpPr>
        <p:grpSpPr>
          <a:xfrm>
            <a:off x="4480560" y="2286000"/>
            <a:ext cx="3520440" cy="3063240"/>
            <a:chOff x="658368" y="2286000"/>
            <a:chExt cx="3520440" cy="3063240"/>
          </a:xfrm>
        </p:grpSpPr>
        <p:sp>
          <p:nvSpPr>
            <p:cNvPr id="364" name="Google Shape;364;p11"/>
            <p:cNvSpPr/>
            <p:nvPr/>
          </p:nvSpPr>
          <p:spPr>
            <a:xfrm>
              <a:off x="658368" y="2286000"/>
              <a:ext cx="3520440" cy="3063240"/>
            </a:xfrm>
            <a:prstGeom prst="roundRect">
              <a:avLst>
                <a:gd name="adj" fmla="val 2687"/>
              </a:avLst>
            </a:prstGeom>
            <a:solidFill>
              <a:srgbClr val="FFFFFF"/>
            </a:solidFill>
            <a:ln w="127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dist="38100" dir="5400000" algn="bl" rotWithShape="0">
                <a:srgbClr val="0B2C2B">
                  <a:alpha val="1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1"/>
            <p:cNvSpPr/>
            <p:nvPr/>
          </p:nvSpPr>
          <p:spPr>
            <a:xfrm>
              <a:off x="658368" y="2286000"/>
              <a:ext cx="3520440" cy="1097280"/>
            </a:xfrm>
            <a:prstGeom prst="roundRect">
              <a:avLst>
                <a:gd name="adj" fmla="val 7500"/>
              </a:avLst>
            </a:prstGeom>
            <a:solidFill>
              <a:srgbClr val="0F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658368" y="2926080"/>
              <a:ext cx="3520440" cy="4572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2089404" y="2523744"/>
              <a:ext cx="658368" cy="658368"/>
            </a:xfrm>
            <a:prstGeom prst="ellipse">
              <a:avLst/>
            </a:prstGeom>
            <a:solidFill>
              <a:srgbClr val="0A2E2D"/>
            </a:solidFill>
            <a:ln>
              <a:noFill/>
            </a:ln>
            <a:effectLst>
              <a:outerShdw blurRad="114300" dist="38100" dir="5400000" algn="bl" rotWithShape="0">
                <a:srgbClr val="0B2C2B">
                  <a:alpha val="1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8" name="Google Shape;368;p11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60580" y="2694920"/>
              <a:ext cx="316017" cy="3160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11"/>
            <p:cNvSpPr/>
            <p:nvPr/>
          </p:nvSpPr>
          <p:spPr>
            <a:xfrm>
              <a:off x="658368" y="3520440"/>
              <a:ext cx="3520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F766E"/>
                </a:buClr>
                <a:buSzPts val="1050"/>
                <a:buFont typeface="Calibri"/>
                <a:buNone/>
              </a:pPr>
              <a:r>
                <a:rPr lang="en-US" sz="1050" b="1" i="0" u="none" strike="noStrike" cap="none" dirty="0">
                  <a:solidFill>
                    <a:srgbClr val="0F766E"/>
                  </a:solidFill>
                  <a:latin typeface="Calibri"/>
                  <a:ea typeface="Calibri"/>
                  <a:cs typeface="Calibri"/>
                  <a:sym typeface="Calibri"/>
                </a:rPr>
                <a:t>TAB 2</a:t>
              </a:r>
              <a:endParaRPr sz="10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841248" y="3767328"/>
              <a:ext cx="315468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750"/>
                <a:buFont typeface="Cambria"/>
                <a:buNone/>
              </a:pPr>
              <a:r>
                <a:rPr lang="en-US" sz="1750" b="1" i="0" u="none" strike="noStrike" cap="none">
                  <a:solidFill>
                    <a:srgbClr val="1E293B"/>
                  </a:solidFill>
                  <a:latin typeface="Cambria"/>
                  <a:ea typeface="Cambria"/>
                  <a:cs typeface="Cambria"/>
                  <a:sym typeface="Cambria"/>
                </a:rPr>
                <a:t>Sentiment Classifier</a:t>
              </a:r>
              <a:endParaRPr sz="1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932688" y="4480560"/>
              <a:ext cx="2971800" cy="777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Type any text review → live Positive / Neutral / Negative prediction with per-class confidence.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1"/>
          <p:cNvSpPr/>
          <p:nvPr/>
        </p:nvSpPr>
        <p:spPr>
          <a:xfrm>
            <a:off x="8302752" y="228600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8302752" y="228600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0D3B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8302752" y="2926080"/>
            <a:ext cx="3520440" cy="4572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9733788" y="2523744"/>
            <a:ext cx="658368" cy="658368"/>
          </a:xfrm>
          <a:prstGeom prst="ellipse">
            <a:avLst/>
          </a:prstGeom>
          <a:solidFill>
            <a:srgbClr val="0A2E2D"/>
          </a:solidFill>
          <a:ln>
            <a:noFill/>
          </a:ln>
          <a:effectLst>
            <a:outerShdw blurRad="114300" dist="38100" dir="5400000" algn="bl" rotWithShape="0">
              <a:srgbClr val="0B2C2B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4" name="Google Shape;384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4964" y="2694920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1"/>
          <p:cNvSpPr/>
          <p:nvPr/>
        </p:nvSpPr>
        <p:spPr>
          <a:xfrm>
            <a:off x="8302752" y="352044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3B3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3B3A"/>
                </a:solidFill>
                <a:latin typeface="Calibri"/>
                <a:ea typeface="Calibri"/>
                <a:cs typeface="Calibri"/>
                <a:sym typeface="Calibri"/>
              </a:rPr>
              <a:t>TAB 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8485632" y="3767328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50"/>
              <a:buFont typeface="Cambria"/>
              <a:buNone/>
            </a:pPr>
            <a:r>
              <a:rPr lang="en-US" sz="175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Recommendation Articles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8577072" y="4480560"/>
            <a:ext cx="2971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Select a category → read the AI-generated summary article for 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72BF62-7B73-2442-EC0F-87E5A70A9F80}"/>
              </a:ext>
            </a:extLst>
          </p:cNvPr>
          <p:cNvSpPr/>
          <p:nvPr/>
        </p:nvSpPr>
        <p:spPr>
          <a:xfrm>
            <a:off x="-914400" y="171450"/>
            <a:ext cx="619125" cy="7715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3A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"/>
          <p:cNvSpPr/>
          <p:nvPr/>
        </p:nvSpPr>
        <p:spPr>
          <a:xfrm>
            <a:off x="-2103120" y="2926080"/>
            <a:ext cx="5669280" cy="5669280"/>
          </a:xfrm>
          <a:prstGeom prst="ellipse">
            <a:avLst/>
          </a:prstGeom>
          <a:solidFill>
            <a:srgbClr val="0F766E">
              <a:alpha val="4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9509760" y="-2377440"/>
            <a:ext cx="4937760" cy="4937760"/>
          </a:xfrm>
          <a:prstGeom prst="ellipse">
            <a:avLst/>
          </a:prstGeom>
          <a:solidFill>
            <a:srgbClr val="14857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822960" y="214884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841248" y="33375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BEFEA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BEFEA"/>
                </a:solidFill>
                <a:latin typeface="Calibri"/>
                <a:ea typeface="Calibri"/>
                <a:cs typeface="Calibri"/>
                <a:sym typeface="Calibri"/>
              </a:rPr>
              <a:t>From raw reviews to sentiment, categories and recommendation articles automated end to end.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p14"/>
          <p:cNvCxnSpPr/>
          <p:nvPr/>
        </p:nvCxnSpPr>
        <p:spPr>
          <a:xfrm>
            <a:off x="868680" y="4297680"/>
            <a:ext cx="1920240" cy="0"/>
          </a:xfrm>
          <a:prstGeom prst="straightConnector1">
            <a:avLst/>
          </a:prstGeom>
          <a:noFill/>
          <a:ln w="317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8" name="Google Shape;398;p14"/>
          <p:cNvSpPr/>
          <p:nvPr/>
        </p:nvSpPr>
        <p:spPr>
          <a:xfrm>
            <a:off x="841248" y="4526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5F2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Review Classification</a:t>
            </a:r>
            <a:r>
              <a:rPr lang="en-US" sz="1450" b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  •   </a:t>
            </a:r>
            <a:r>
              <a:rPr lang="en-US" sz="1450" b="1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Product Clustering</a:t>
            </a:r>
            <a:r>
              <a:rPr lang="en-US" sz="1450" b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  •   </a:t>
            </a:r>
            <a:r>
              <a:rPr lang="en-US" sz="1450" b="1">
                <a:solidFill>
                  <a:srgbClr val="E2F5F2"/>
                </a:solidFill>
                <a:latin typeface="Calibri"/>
                <a:ea typeface="Calibri"/>
                <a:cs typeface="Calibri"/>
                <a:sym typeface="Calibri"/>
              </a:rPr>
              <a:t>Generative Summarisation</a:t>
            </a:r>
            <a:endParaRPr sz="1500" b="1">
              <a:solidFill>
                <a:srgbClr val="E2F5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841248" y="5394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C4BE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8FC4BE"/>
                </a:solidFill>
                <a:latin typeface="Calibri"/>
                <a:ea typeface="Calibri"/>
                <a:cs typeface="Calibri"/>
                <a:sym typeface="Calibri"/>
              </a:rPr>
              <a:t>Questions welcome.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1746</Words>
  <Application>Microsoft Office PowerPoint</Application>
  <PresentationFormat>Widescreen</PresentationFormat>
  <Paragraphs>238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NLP Project Team</dc:creator>
  <cp:lastModifiedBy>Villegas, Soledad</cp:lastModifiedBy>
  <cp:revision>1</cp:revision>
  <dcterms:created xsi:type="dcterms:W3CDTF">2026-07-04T14:46:40Z</dcterms:created>
  <dcterms:modified xsi:type="dcterms:W3CDTF">2026-07-14T17:48:55Z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f1469a-2c2a-4aee-b92b-090d4c5468ff_Enabled">
    <vt:lpwstr>true</vt:lpwstr>
  </property>
  <property fmtid="{D5CDD505-2E9C-101B-9397-08002B2CF9AE}" pid="3" name="MSIP_Label_38f1469a-2c2a-4aee-b92b-090d4c5468ff_SetDate">
    <vt:lpwstr>2026-07-14T17:48:55Z</vt:lpwstr>
  </property>
  <property fmtid="{D5CDD505-2E9C-101B-9397-08002B2CF9AE}" pid="4" name="MSIP_Label_38f1469a-2c2a-4aee-b92b-090d4c5468ff_Method">
    <vt:lpwstr>Standard</vt:lpwstr>
  </property>
  <property fmtid="{D5CDD505-2E9C-101B-9397-08002B2CF9AE}" pid="5" name="MSIP_Label_38f1469a-2c2a-4aee-b92b-090d4c5468ff_Name">
    <vt:lpwstr>Confidential - Unmarked</vt:lpwstr>
  </property>
  <property fmtid="{D5CDD505-2E9C-101B-9397-08002B2CF9AE}" pid="6" name="MSIP_Label_38f1469a-2c2a-4aee-b92b-090d4c5468ff_SiteId">
    <vt:lpwstr>2a6e6092-73e4-4752-b1a5-477a17f5056d</vt:lpwstr>
  </property>
  <property fmtid="{D5CDD505-2E9C-101B-9397-08002B2CF9AE}" pid="7" name="MSIP_Label_38f1469a-2c2a-4aee-b92b-090d4c5468ff_ActionId">
    <vt:lpwstr>e585374e-4e75-4860-90f2-c5f7ffb186d5</vt:lpwstr>
  </property>
  <property fmtid="{D5CDD505-2E9C-101B-9397-08002B2CF9AE}" pid="8" name="MSIP_Label_38f1469a-2c2a-4aee-b92b-090d4c5468ff_ContentBits">
    <vt:lpwstr>0</vt:lpwstr>
  </property>
  <property fmtid="{D5CDD505-2E9C-101B-9397-08002B2CF9AE}" pid="9" name="MSIP_Label_38f1469a-2c2a-4aee-b92b-090d4c5468ff_Tag">
    <vt:lpwstr>10, 3, 0, 1</vt:lpwstr>
  </property>
</Properties>
</file>